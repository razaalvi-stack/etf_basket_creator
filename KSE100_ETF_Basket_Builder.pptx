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71" autoAdjust="0"/>
    <p:restoredTop sz="94610"/>
  </p:normalViewPr>
  <p:slideViewPr>
    <p:cSldViewPr snapToGrid="0" snapToObjects="1">
      <p:cViewPr varScale="1">
        <p:scale>
          <a:sx n="144" d="100"/>
          <a:sy n="144" d="100"/>
        </p:scale>
        <p:origin x="51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0F2B46"/>
              </a:solidFill>
              <a:effectLst/>
            </c:spPr>
            <c:extLst>
              <c:ext xmlns:c16="http://schemas.microsoft.com/office/drawing/2014/chart" uri="{C3380CC4-5D6E-409C-BE32-E72D297353CC}">
                <c16:uniqueId val="{00000001-83AF-4FF3-A914-DFB360DA3F85}"/>
              </c:ext>
            </c:extLst>
          </c:dPt>
          <c:dPt>
            <c:idx val="1"/>
            <c:bubble3D val="0"/>
            <c:spPr>
              <a:solidFill>
                <a:srgbClr val="1A6DAA"/>
              </a:solidFill>
              <a:effectLst/>
            </c:spPr>
            <c:extLst>
              <c:ext xmlns:c16="http://schemas.microsoft.com/office/drawing/2014/chart" uri="{C3380CC4-5D6E-409C-BE32-E72D297353CC}">
                <c16:uniqueId val="{00000003-83AF-4FF3-A914-DFB360DA3F85}"/>
              </c:ext>
            </c:extLst>
          </c:dPt>
          <c:dPt>
            <c:idx val="2"/>
            <c:bubble3D val="0"/>
            <c:spPr>
              <a:solidFill>
                <a:srgbClr val="0D9488"/>
              </a:solidFill>
              <a:effectLst/>
            </c:spPr>
            <c:extLst>
              <c:ext xmlns:c16="http://schemas.microsoft.com/office/drawing/2014/chart" uri="{C3380CC4-5D6E-409C-BE32-E72D297353CC}">
                <c16:uniqueId val="{00000005-83AF-4FF3-A914-DFB360DA3F85}"/>
              </c:ext>
            </c:extLst>
          </c:dPt>
          <c:dPt>
            <c:idx val="3"/>
            <c:bubble3D val="0"/>
            <c:spPr>
              <a:solidFill>
                <a:srgbClr val="3B82F6"/>
              </a:solidFill>
              <a:effectLst/>
            </c:spPr>
            <c:extLst>
              <c:ext xmlns:c16="http://schemas.microsoft.com/office/drawing/2014/chart" uri="{C3380CC4-5D6E-409C-BE32-E72D297353CC}">
                <c16:uniqueId val="{00000007-83AF-4FF3-A914-DFB360DA3F85}"/>
              </c:ext>
            </c:extLst>
          </c:dPt>
          <c:dPt>
            <c:idx val="4"/>
            <c:bubble3D val="0"/>
            <c:spPr>
              <a:solidFill>
                <a:srgbClr val="E2E8F0"/>
              </a:solidFill>
              <a:effectLst/>
            </c:spPr>
            <c:extLst>
              <c:ext xmlns:c16="http://schemas.microsoft.com/office/drawing/2014/chart" uri="{C3380CC4-5D6E-409C-BE32-E72D297353CC}">
                <c16:uniqueId val="{00000009-83AF-4FF3-A914-DFB360DA3F85}"/>
              </c:ext>
            </c:extLst>
          </c:dPt>
          <c:cat>
            <c:strRef>
              <c:f>Sheet1!$A$2:$A$6</c:f>
              <c:strCache>
                <c:ptCount val="5"/>
                <c:pt idx="0">
                  <c:v>UBL (6.8%)</c:v>
                </c:pt>
                <c:pt idx="1">
                  <c:v>MCB (5.2%)</c:v>
                </c:pt>
                <c:pt idx="2">
                  <c:v>OGDC (4.6%)</c:v>
                </c:pt>
                <c:pt idx="3">
                  <c:v>HBL (4.1%)</c:v>
                </c:pt>
                <c:pt idx="4">
                  <c:v>Other 96 (79.3%)</c:v>
                </c:pt>
              </c:strCache>
            </c:strRef>
          </c:cat>
          <c:val>
            <c:numRef>
              <c:f>Sheet1!$B$2:$B$6</c:f>
              <c:numCache>
                <c:formatCode>General</c:formatCode>
                <c:ptCount val="5"/>
                <c:pt idx="0">
                  <c:v>6.8</c:v>
                </c:pt>
                <c:pt idx="1">
                  <c:v>5.2</c:v>
                </c:pt>
                <c:pt idx="2">
                  <c:v>4.5999999999999996</c:v>
                </c:pt>
                <c:pt idx="3">
                  <c:v>4.0999999999999996</c:v>
                </c:pt>
                <c:pt idx="4">
                  <c:v>79.3</c:v>
                </c:pt>
              </c:numCache>
            </c:numRef>
          </c:val>
          <c:extLst>
            <c:ext xmlns:c16="http://schemas.microsoft.com/office/drawing/2014/chart" uri="{C3380CC4-5D6E-409C-BE32-E72D297353CC}">
              <c16:uniqueId val="{0000000A-83AF-4FF3-A914-DFB360DA3F85}"/>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solidFill>
                <a:srgbClr val="1E293B"/>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0263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walk you through a tool I built to automate the creation of ETF baskets based on Pakistan's KSE-100 index. We'll start with the basics of what an index and ETF are, then dive into how the tool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stock index is simply a way to measure the market. KSE-100 covers Pakistan's 100 largest companies by market cap. Bigger companies carry more weight. If UBL which has about 7% weight goes up 10%, it moves the index more than a tiny company with 0.01% weight.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ETF bundles many stocks into one tradable unit. Instead of buying 100 different shares separately, an investor buys one ETF share and gets proportional exposure to all 100 companies. It's cheaper, faster, and simpler.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creation unit is the physical basket of shares assembled to back ETF units. Step 1 is deciding total value. Step 2 is calculating how many shares of each of the 100 companies to buy based on their index weight. Step 3 is actually buying those whole shares and keeping a small cash buffer.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this in Excel was error-prone and slow. Each time the basket size changed, all 100 rows needed recalculating. Rounding issues often pushed cash negative, requiring manual fix-ups. Python does all of this in seconds, correctly, every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source data from PSX. The CSV has 100 rows, one per company. The five key columns are: ISIN for unique identifier, SYMBOL for the ticker, COMPANY for the name, PRICE for the share price on that date, and IDX WT percent for the index weight. Note that all weights across the 100 companies sum to 100%.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provides three inputs: the date which determines which CSV file to load, the basket size in Pakistani Rupees which is the total value of shares and cash, and the cash percentage which sets aside a small reserve. The equity target is what's left after cash.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math for one company. The equity target is 49 million (50M basket minus 2% cash). UBL's share of that is 6.81% which equals about 3.3 million rupees. Divide by share price to get 8717.1 exact shares, round to 8717 whole shares. Multiply back by price to get actual value held. This is done for all 100 companies.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can only buy whole shares, rounding creates a problem. If many stocks round up, the total cost of shares exceeds the basket size, making cash negative. The repair algorithm finds the company that overshot its target the most, removes one share from it, and repeats until cash is zero or positive. This is systematic and optimal.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output. The basket size was 50 million, with 2% intended cash. The equity target was 49 million but after rounding, actual equity is slightly less. Cash ended up at about 1457 rupees. Three shares had to be trimmed to prevent negative cash. 12 companies were too small to even get one share at this basket size.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sample of the full basket output showing the top companies by weight. EXACT is the fractional ideal number of shares. BASKET is the rounded whole number. VALUE is basket shares times price. BASKET WT% is the actual weight in the portfolio. WT DIFF shows how close we are to the index weight. Zero or near-zero means we're tracking the index well.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companies that didn't make it into the basket. Unilever Pakistan Foods is priced at 30,000 rupees per share with a tiny 0.19% weight. The math says we need 0.31 of a share, which rounds to zero. A bigger basket size would solve this, as it would allocate enough rupees for at least one share.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organized into 14 modules. Input modules handle user interaction and data loading. Calculate modules do the math. Report modules display results on screen. Output modules save the three CSV files. Module 14, Main, orchestrates everything in the correct order.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is not limited to KSE-100. Any equity index worldwide can use it as long as the data is in the standard CSV format. This includes ETF rebalancing for existing funds, creation of brand new ETFs, or individual investors building index-mimicking portfolios.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I'm happy to take any questions about the tool, the math, or how ETFs work in general.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3897961" y="699052"/>
            <a:ext cx="1371600" cy="1371600"/>
          </a:xfrm>
          <a:prstGeom prst="ellipse">
            <a:avLst/>
          </a:prstGeom>
          <a:solidFill>
            <a:srgbClr val="1A6DAA">
              <a:alpha val="70000"/>
            </a:srgbClr>
          </a:solidFill>
          <a:ln/>
        </p:spPr>
      </p:sp>
      <p:pic>
        <p:nvPicPr>
          <p:cNvPr id="3" name="Image 0" descr="preencoded.png"/>
          <p:cNvPicPr>
            <a:picLocks noChangeAspect="1"/>
          </p:cNvPicPr>
          <p:nvPr/>
        </p:nvPicPr>
        <p:blipFill>
          <a:blip r:embed="rId3"/>
          <a:stretch>
            <a:fillRect/>
          </a:stretch>
        </p:blipFill>
        <p:spPr>
          <a:xfrm>
            <a:off x="4172281" y="973372"/>
            <a:ext cx="822960" cy="822960"/>
          </a:xfrm>
          <a:prstGeom prst="rect">
            <a:avLst/>
          </a:prstGeom>
        </p:spPr>
      </p:pic>
      <p:sp>
        <p:nvSpPr>
          <p:cNvPr id="4" name="Text 1"/>
          <p:cNvSpPr/>
          <p:nvPr/>
        </p:nvSpPr>
        <p:spPr>
          <a:xfrm>
            <a:off x="468961" y="2011680"/>
            <a:ext cx="8229600" cy="1371600"/>
          </a:xfrm>
          <a:prstGeom prst="rect">
            <a:avLst/>
          </a:prstGeom>
          <a:noFill/>
          <a:ln/>
        </p:spPr>
        <p:txBody>
          <a:bodyPr wrap="square" rtlCol="0" anchor="ctr"/>
          <a:lstStyle/>
          <a:p>
            <a:pPr marL="0" indent="0" algn="ctr">
              <a:lnSpc>
                <a:spcPct val="110000"/>
              </a:lnSpc>
              <a:buNone/>
            </a:pPr>
            <a:r>
              <a:rPr lang="en-US" sz="4000" b="1" dirty="0">
                <a:solidFill>
                  <a:srgbClr val="FFFFFF"/>
                </a:solidFill>
                <a:latin typeface="Calibri" pitchFamily="34" charset="0"/>
                <a:ea typeface="Calibri" pitchFamily="34" charset="-122"/>
                <a:cs typeface="Calibri" pitchFamily="34" charset="-120"/>
              </a:rPr>
              <a:t>KSE-100 ETF</a:t>
            </a:r>
            <a:endParaRPr lang="en-US" sz="4000" dirty="0"/>
          </a:p>
          <a:p>
            <a:pPr marL="0" indent="0" algn="ctr">
              <a:lnSpc>
                <a:spcPct val="110000"/>
              </a:lnSpc>
              <a:buNone/>
            </a:pPr>
            <a:r>
              <a:rPr lang="en-US" sz="4000" b="1" dirty="0">
                <a:solidFill>
                  <a:srgbClr val="FFFFFF"/>
                </a:solidFill>
                <a:latin typeface="Calibri" pitchFamily="34" charset="0"/>
                <a:ea typeface="Calibri" pitchFamily="34" charset="-122"/>
                <a:cs typeface="Calibri" pitchFamily="34" charset="-120"/>
              </a:rPr>
              <a:t>Creation Basket Builder</a:t>
            </a:r>
            <a:endParaRPr lang="en-US" sz="4000" dirty="0"/>
          </a:p>
        </p:txBody>
      </p:sp>
      <p:sp>
        <p:nvSpPr>
          <p:cNvPr id="5" name="Text 2"/>
          <p:cNvSpPr/>
          <p:nvPr/>
        </p:nvSpPr>
        <p:spPr>
          <a:xfrm>
            <a:off x="468961" y="3474720"/>
            <a:ext cx="8229600" cy="457200"/>
          </a:xfrm>
          <a:prstGeom prst="rect">
            <a:avLst/>
          </a:prstGeom>
          <a:noFill/>
          <a:ln/>
        </p:spPr>
        <p:txBody>
          <a:bodyPr wrap="square" rtlCol="0" anchor="ctr"/>
          <a:lstStyle/>
          <a:p>
            <a:pPr marL="0" indent="0" algn="ctr">
              <a:buNone/>
            </a:pPr>
            <a:r>
              <a:rPr lang="en-US" sz="1800" dirty="0">
                <a:solidFill>
                  <a:srgbClr val="0D9488"/>
                </a:solidFill>
                <a:latin typeface="Calibri" pitchFamily="34" charset="0"/>
                <a:ea typeface="Calibri" pitchFamily="34" charset="-122"/>
                <a:cs typeface="Calibri" pitchFamily="34" charset="-120"/>
              </a:rPr>
              <a:t>A Python Tool for Index-Based Portfolio Construction</a:t>
            </a:r>
            <a:endParaRPr lang="en-US" sz="1800" dirty="0"/>
          </a:p>
        </p:txBody>
      </p:sp>
      <p:sp>
        <p:nvSpPr>
          <p:cNvPr id="6" name="Shape 3"/>
          <p:cNvSpPr/>
          <p:nvPr/>
        </p:nvSpPr>
        <p:spPr>
          <a:xfrm>
            <a:off x="3212161" y="4114800"/>
            <a:ext cx="2743200" cy="36576"/>
          </a:xfrm>
          <a:prstGeom prst="rect">
            <a:avLst/>
          </a:prstGeom>
          <a:solidFill>
            <a:srgbClr val="0D9488">
              <a:alpha val="60000"/>
            </a:srgbClr>
          </a:solidFill>
          <a:ln/>
        </p:spPr>
      </p:sp>
      <p:sp>
        <p:nvSpPr>
          <p:cNvPr id="7" name="Text 4"/>
          <p:cNvSpPr/>
          <p:nvPr/>
        </p:nvSpPr>
        <p:spPr>
          <a:xfrm>
            <a:off x="468961" y="4261568"/>
            <a:ext cx="8229600" cy="365760"/>
          </a:xfrm>
          <a:prstGeom prst="rect">
            <a:avLst/>
          </a:prstGeom>
          <a:noFill/>
          <a:ln/>
        </p:spPr>
        <p:txBody>
          <a:bodyPr wrap="square" rtlCol="0" anchor="ctr"/>
          <a:lstStyle/>
          <a:p>
            <a:pPr marL="0" indent="0" algn="ctr">
              <a:buNone/>
            </a:pPr>
            <a:r>
              <a:rPr lang="en-US" sz="1300" i="1" dirty="0">
                <a:solidFill>
                  <a:srgbClr val="64748B"/>
                </a:solidFill>
                <a:latin typeface="Calibri" pitchFamily="34" charset="0"/>
                <a:ea typeface="Calibri" pitchFamily="34" charset="-122"/>
                <a:cs typeface="Calibri" pitchFamily="34" charset="-120"/>
              </a:rPr>
              <a:t>From Manual Excel to Automated Python</a:t>
            </a:r>
            <a:endParaRPr lang="en-US" sz="1300" dirty="0"/>
          </a:p>
        </p:txBody>
      </p:sp>
      <p:pic>
        <p:nvPicPr>
          <p:cNvPr id="9" name="Picture 8">
            <a:extLst>
              <a:ext uri="{FF2B5EF4-FFF2-40B4-BE49-F238E27FC236}">
                <a16:creationId xmlns:a16="http://schemas.microsoft.com/office/drawing/2014/main" id="{21287219-D85A-4B78-832D-562474A64BB9}"/>
              </a:ext>
            </a:extLst>
          </p:cNvPr>
          <p:cNvPicPr>
            <a:picLocks noChangeAspect="1"/>
          </p:cNvPicPr>
          <p:nvPr/>
        </p:nvPicPr>
        <p:blipFill rotWithShape="1">
          <a:blip r:embed="rId4"/>
          <a:srcRect r="65457"/>
          <a:stretch/>
        </p:blipFill>
        <p:spPr>
          <a:xfrm>
            <a:off x="130022" y="110091"/>
            <a:ext cx="1095804" cy="371527"/>
          </a:xfrm>
          <a:prstGeom prst="rect">
            <a:avLst/>
          </a:prstGeom>
        </p:spPr>
      </p:pic>
      <p:pic>
        <p:nvPicPr>
          <p:cNvPr id="10" name="Picture 9">
            <a:extLst>
              <a:ext uri="{FF2B5EF4-FFF2-40B4-BE49-F238E27FC236}">
                <a16:creationId xmlns:a16="http://schemas.microsoft.com/office/drawing/2014/main" id="{8FE03BB5-1F0A-461D-BBB7-A249D6ADE955}"/>
              </a:ext>
            </a:extLst>
          </p:cNvPr>
          <p:cNvPicPr>
            <a:picLocks noChangeAspect="1"/>
          </p:cNvPicPr>
          <p:nvPr/>
        </p:nvPicPr>
        <p:blipFill rotWithShape="1">
          <a:blip r:embed="rId4"/>
          <a:srcRect l="34752"/>
          <a:stretch/>
        </p:blipFill>
        <p:spPr>
          <a:xfrm>
            <a:off x="6944138" y="110091"/>
            <a:ext cx="2069839" cy="371527"/>
          </a:xfrm>
          <a:prstGeom prst="rect">
            <a:avLst/>
          </a:prstGeom>
        </p:spPr>
      </p:pic>
      <p:pic>
        <p:nvPicPr>
          <p:cNvPr id="12" name="Picture 11">
            <a:extLst>
              <a:ext uri="{FF2B5EF4-FFF2-40B4-BE49-F238E27FC236}">
                <a16:creationId xmlns:a16="http://schemas.microsoft.com/office/drawing/2014/main" id="{932A3718-F465-42A2-B5CF-329DC22066E4}"/>
              </a:ext>
            </a:extLst>
          </p:cNvPr>
          <p:cNvPicPr>
            <a:picLocks noChangeAspect="1"/>
          </p:cNvPicPr>
          <p:nvPr/>
        </p:nvPicPr>
        <p:blipFill rotWithShape="1">
          <a:blip r:embed="rId5"/>
          <a:srcRect l="5562" t="17179" r="5562" b="14399"/>
          <a:stretch/>
        </p:blipFill>
        <p:spPr>
          <a:xfrm>
            <a:off x="3897961" y="110091"/>
            <a:ext cx="1371600" cy="371527"/>
          </a:xfrm>
          <a:prstGeom prst="rect">
            <a:avLst/>
          </a:prstGeom>
        </p:spPr>
      </p:pic>
      <p:sp>
        <p:nvSpPr>
          <p:cNvPr id="14" name="Text 4">
            <a:extLst>
              <a:ext uri="{FF2B5EF4-FFF2-40B4-BE49-F238E27FC236}">
                <a16:creationId xmlns:a16="http://schemas.microsoft.com/office/drawing/2014/main" id="{834F54ED-CEBE-4F9D-AD80-38F50770A0B3}"/>
              </a:ext>
            </a:extLst>
          </p:cNvPr>
          <p:cNvSpPr/>
          <p:nvPr/>
        </p:nvSpPr>
        <p:spPr>
          <a:xfrm>
            <a:off x="3640289" y="4585914"/>
            <a:ext cx="1863422" cy="365760"/>
          </a:xfrm>
          <a:prstGeom prst="rect">
            <a:avLst/>
          </a:prstGeom>
          <a:noFill/>
          <a:ln/>
        </p:spPr>
        <p:txBody>
          <a:bodyPr wrap="square" rtlCol="0" anchor="ctr"/>
          <a:lstStyle/>
          <a:p>
            <a:pPr marL="0" indent="0" algn="ctr">
              <a:buNone/>
            </a:pPr>
            <a:r>
              <a:rPr lang="en-US" sz="1400" dirty="0">
                <a:solidFill>
                  <a:schemeClr val="accent4">
                    <a:lumMod val="60000"/>
                    <a:lumOff val="40000"/>
                  </a:schemeClr>
                </a:solidFill>
                <a:latin typeface="Calibri" pitchFamily="34" charset="0"/>
                <a:ea typeface="Calibri" pitchFamily="34" charset="-122"/>
                <a:cs typeface="Calibri" pitchFamily="34" charset="-120"/>
              </a:rPr>
              <a:t>By: Hassan Raza</a:t>
            </a:r>
            <a:endParaRPr lang="en-US" sz="1400" dirty="0">
              <a:solidFill>
                <a:schemeClr val="accent4">
                  <a:lumMod val="60000"/>
                  <a:lumOff val="40000"/>
                </a:schemeClr>
              </a:solidFill>
            </a:endParaRPr>
          </a:p>
        </p:txBody>
      </p:sp>
      <p:sp>
        <p:nvSpPr>
          <p:cNvPr id="15" name="Text 4">
            <a:extLst>
              <a:ext uri="{FF2B5EF4-FFF2-40B4-BE49-F238E27FC236}">
                <a16:creationId xmlns:a16="http://schemas.microsoft.com/office/drawing/2014/main" id="{5322F7C0-51AB-4A85-8B93-F0D720C4BE8D}"/>
              </a:ext>
            </a:extLst>
          </p:cNvPr>
          <p:cNvSpPr/>
          <p:nvPr/>
        </p:nvSpPr>
        <p:spPr>
          <a:xfrm>
            <a:off x="6944138" y="4585914"/>
            <a:ext cx="1863422" cy="365760"/>
          </a:xfrm>
          <a:prstGeom prst="rect">
            <a:avLst/>
          </a:prstGeom>
          <a:noFill/>
          <a:ln/>
        </p:spPr>
        <p:txBody>
          <a:bodyPr wrap="square" rtlCol="0" anchor="ctr"/>
          <a:lstStyle/>
          <a:p>
            <a:pPr marL="0" indent="0" algn="ctr">
              <a:buNone/>
            </a:pPr>
            <a:r>
              <a:rPr lang="en-US" sz="1100" dirty="0">
                <a:solidFill>
                  <a:schemeClr val="accent4">
                    <a:lumMod val="60000"/>
                    <a:lumOff val="40000"/>
                  </a:schemeClr>
                </a:solidFill>
                <a:latin typeface="Calibri" pitchFamily="34" charset="0"/>
                <a:ea typeface="Calibri" pitchFamily="34" charset="-122"/>
                <a:cs typeface="Calibri" pitchFamily="34" charset="-120"/>
              </a:rPr>
              <a:t>June 12, 2026</a:t>
            </a:r>
            <a:endParaRPr lang="en-US" sz="1100" dirty="0">
              <a:solidFill>
                <a:schemeClr val="accent4">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What is a Stock Market Index?</a:t>
            </a:r>
            <a:endParaRPr lang="en-US" sz="3200" dirty="0"/>
          </a:p>
        </p:txBody>
      </p:sp>
      <p:sp>
        <p:nvSpPr>
          <p:cNvPr id="3" name="Text 1"/>
          <p:cNvSpPr/>
          <p:nvPr/>
        </p:nvSpPr>
        <p:spPr>
          <a:xfrm>
            <a:off x="457200" y="1097280"/>
            <a:ext cx="5029200" cy="3200400"/>
          </a:xfrm>
          <a:prstGeom prst="rect">
            <a:avLst/>
          </a:prstGeom>
          <a:noFill/>
          <a:ln/>
        </p:spPr>
        <p:txBody>
          <a:bodyPr wrap="square" rtlCol="0" anchor="t"/>
          <a:lstStyle/>
          <a:p>
            <a:pPr marL="0" indent="0">
              <a:lnSpc>
                <a:spcPct val="120000"/>
              </a:lnSpc>
              <a:buNone/>
            </a:pPr>
            <a:r>
              <a:rPr lang="en-US" sz="1500" dirty="0">
                <a:solidFill>
                  <a:srgbClr val="1E293B"/>
                </a:solidFill>
                <a:latin typeface="Calibri" pitchFamily="34" charset="0"/>
                <a:ea typeface="Calibri" pitchFamily="34" charset="-122"/>
                <a:cs typeface="Calibri" pitchFamily="34" charset="-120"/>
              </a:rPr>
              <a:t>A stock market index is a </a:t>
            </a:r>
            <a:r>
              <a:rPr lang="en-US" sz="1500" b="1" dirty="0">
                <a:solidFill>
                  <a:srgbClr val="1A6DAA"/>
                </a:solidFill>
                <a:latin typeface="Calibri" pitchFamily="34" charset="0"/>
                <a:ea typeface="Calibri" pitchFamily="34" charset="-122"/>
                <a:cs typeface="Calibri" pitchFamily="34" charset="-120"/>
              </a:rPr>
              <a:t>measuring stick</a:t>
            </a:r>
            <a:r>
              <a:rPr lang="en-US" sz="1500" dirty="0">
                <a:solidFill>
                  <a:srgbClr val="1E293B"/>
                </a:solidFill>
                <a:latin typeface="Calibri" pitchFamily="34" charset="0"/>
                <a:ea typeface="Calibri" pitchFamily="34" charset="-122"/>
                <a:cs typeface="Calibri" pitchFamily="34" charset="-120"/>
              </a:rPr>
              <a:t> that tracks the overall performance of a group of stocks.</a:t>
            </a:r>
            <a:endParaRPr lang="en-US" sz="1500" dirty="0"/>
          </a:p>
          <a:p>
            <a:pPr marL="0" indent="0">
              <a:lnSpc>
                <a:spcPct val="120000"/>
              </a:lnSpc>
              <a:buNone/>
            </a:pPr>
            <a:endParaRPr lang="en-US" sz="1500" dirty="0"/>
          </a:p>
          <a:p>
            <a:pPr marL="0" indent="0">
              <a:lnSpc>
                <a:spcPct val="120000"/>
              </a:lnSpc>
              <a:buNone/>
            </a:pPr>
            <a:r>
              <a:rPr lang="en-US" sz="1500" dirty="0">
                <a:solidFill>
                  <a:srgbClr val="1E293B"/>
                </a:solidFill>
                <a:latin typeface="Calibri" pitchFamily="34" charset="0"/>
                <a:ea typeface="Calibri" pitchFamily="34" charset="-122"/>
                <a:cs typeface="Calibri" pitchFamily="34" charset="-120"/>
              </a:rPr>
              <a:t>Think of it like a scoreboard for the stock market — it goes up when most stocks in the group go up, and down when most go down.</a:t>
            </a:r>
            <a:endParaRPr lang="en-US" sz="1500" dirty="0"/>
          </a:p>
          <a:p>
            <a:pPr marL="0" indent="0">
              <a:lnSpc>
                <a:spcPct val="120000"/>
              </a:lnSpc>
              <a:buNone/>
            </a:pPr>
            <a:endParaRPr lang="en-US" sz="1500" dirty="0"/>
          </a:p>
          <a:p>
            <a:pPr marL="0" indent="0">
              <a:lnSpc>
                <a:spcPct val="120000"/>
              </a:lnSpc>
              <a:buNone/>
            </a:pPr>
            <a:r>
              <a:rPr lang="en-US" sz="1600" b="1" dirty="0">
                <a:solidFill>
                  <a:srgbClr val="0F2B46"/>
                </a:solidFill>
                <a:latin typeface="Calibri" pitchFamily="34" charset="0"/>
                <a:ea typeface="Calibri" pitchFamily="34" charset="-122"/>
                <a:cs typeface="Calibri" pitchFamily="34" charset="-120"/>
              </a:rPr>
              <a:t>The KSE-100 Index</a:t>
            </a:r>
            <a:endParaRPr lang="en-US" sz="1500" dirty="0"/>
          </a:p>
          <a:p>
            <a:pPr marL="0" indent="0">
              <a:lnSpc>
                <a:spcPct val="120000"/>
              </a:lnSpc>
              <a:buNone/>
            </a:pPr>
            <a:r>
              <a:rPr lang="en-US" sz="1500" dirty="0">
                <a:solidFill>
                  <a:srgbClr val="1E293B"/>
                </a:solidFill>
                <a:latin typeface="Calibri" pitchFamily="34" charset="0"/>
                <a:ea typeface="Calibri" pitchFamily="34" charset="-122"/>
                <a:cs typeface="Calibri" pitchFamily="34" charset="-120"/>
              </a:rPr>
              <a:t>Pakistan’s primary stock market index, tracking the 100 largest companies listed on the Pakistan Stock Exchange (PSX). Each company has a </a:t>
            </a:r>
            <a:r>
              <a:rPr lang="en-US" sz="1500" b="1" i="1" dirty="0">
                <a:solidFill>
                  <a:srgbClr val="1E293B"/>
                </a:solidFill>
                <a:latin typeface="Calibri" pitchFamily="34" charset="0"/>
                <a:ea typeface="Calibri" pitchFamily="34" charset="-122"/>
                <a:cs typeface="Calibri" pitchFamily="34" charset="-120"/>
              </a:rPr>
              <a:t>weight</a:t>
            </a:r>
            <a:r>
              <a:rPr lang="en-US" sz="1500" dirty="0">
                <a:solidFill>
                  <a:srgbClr val="1E293B"/>
                </a:solidFill>
                <a:latin typeface="Calibri" pitchFamily="34" charset="0"/>
                <a:ea typeface="Calibri" pitchFamily="34" charset="-122"/>
                <a:cs typeface="Calibri" pitchFamily="34" charset="-120"/>
              </a:rPr>
              <a:t> in the index based on its market size.</a:t>
            </a:r>
            <a:endParaRPr lang="en-US" sz="1500" dirty="0"/>
          </a:p>
        </p:txBody>
      </p:sp>
      <p:graphicFrame>
        <p:nvGraphicFramePr>
          <p:cNvPr id="4" name="Chart 0"/>
          <p:cNvGraphicFramePr/>
          <p:nvPr/>
        </p:nvGraphicFramePr>
        <p:xfrm>
          <a:off x="5669280" y="914400"/>
          <a:ext cx="32004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669280" y="3840480"/>
            <a:ext cx="3200400" cy="36576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Bigger companies = Bigger weight in the index</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What is an ETF?</a:t>
            </a:r>
            <a:endParaRPr lang="en-US" sz="3200" dirty="0"/>
          </a:p>
        </p:txBody>
      </p:sp>
      <p:sp>
        <p:nvSpPr>
          <p:cNvPr id="3" name="Text 1"/>
          <p:cNvSpPr/>
          <p:nvPr/>
        </p:nvSpPr>
        <p:spPr>
          <a:xfrm>
            <a:off x="457200" y="1005840"/>
            <a:ext cx="8229600" cy="1097280"/>
          </a:xfrm>
          <a:prstGeom prst="rect">
            <a:avLst/>
          </a:prstGeom>
          <a:noFill/>
          <a:ln/>
        </p:spPr>
        <p:txBody>
          <a:bodyPr wrap="square" rtlCol="0" anchor="t"/>
          <a:lstStyle/>
          <a:p>
            <a:pPr marL="0" indent="0">
              <a:lnSpc>
                <a:spcPct val="120000"/>
              </a:lnSpc>
              <a:buNone/>
            </a:pPr>
            <a:r>
              <a:rPr lang="en-US" sz="1700" b="1" dirty="0">
                <a:solidFill>
                  <a:srgbClr val="1A6DAA"/>
                </a:solidFill>
                <a:latin typeface="Calibri" pitchFamily="34" charset="0"/>
                <a:ea typeface="Calibri" pitchFamily="34" charset="-122"/>
                <a:cs typeface="Calibri" pitchFamily="34" charset="-120"/>
              </a:rPr>
              <a:t>ETF = Exchange-Traded Fund</a:t>
            </a:r>
            <a:endParaRPr lang="en-US" sz="1700" dirty="0"/>
          </a:p>
          <a:p>
            <a:pPr marL="0" indent="0">
              <a:lnSpc>
                <a:spcPct val="120000"/>
              </a:lnSpc>
              <a:buNone/>
            </a:pPr>
            <a:endParaRPr lang="en-US" sz="1700" dirty="0"/>
          </a:p>
          <a:p>
            <a:pPr marL="0" indent="0">
              <a:lnSpc>
                <a:spcPct val="120000"/>
              </a:lnSpc>
              <a:buNone/>
            </a:pPr>
            <a:r>
              <a:rPr lang="en-US" sz="1500" dirty="0">
                <a:solidFill>
                  <a:srgbClr val="1E293B"/>
                </a:solidFill>
                <a:latin typeface="Calibri" pitchFamily="34" charset="0"/>
                <a:ea typeface="Calibri" pitchFamily="34" charset="-122"/>
                <a:cs typeface="Calibri" pitchFamily="34" charset="-120"/>
              </a:rPr>
              <a:t>An ETF is a basket of stocks that you can buy or sell as a single unit on the stock exchange, just like buying a single share.</a:t>
            </a:r>
            <a:endParaRPr lang="en-US" sz="1700" dirty="0"/>
          </a:p>
        </p:txBody>
      </p:sp>
      <p:sp>
        <p:nvSpPr>
          <p:cNvPr id="4" name="Shape 2"/>
          <p:cNvSpPr/>
          <p:nvPr/>
        </p:nvSpPr>
        <p:spPr>
          <a:xfrm>
            <a:off x="640080" y="2286000"/>
            <a:ext cx="2468880" cy="2194560"/>
          </a:xfrm>
          <a:prstGeom prst="roundRect">
            <a:avLst>
              <a:gd name="adj" fmla="val 5000"/>
            </a:avLst>
          </a:prstGeom>
          <a:solidFill>
            <a:srgbClr val="FFFFFF"/>
          </a:solidFill>
          <a:ln/>
          <a:effectLst>
            <a:outerShdw blurRad="76200" dist="25400" dir="2700000" algn="bl" rotWithShape="0">
              <a:srgbClr val="000000">
                <a:alpha val="12000"/>
              </a:srgbClr>
            </a:outerShdw>
          </a:effectLst>
        </p:spPr>
      </p:sp>
      <p:pic>
        <p:nvPicPr>
          <p:cNvPr id="5" name="Image 0" descr="preencoded.png"/>
          <p:cNvPicPr>
            <a:picLocks noChangeAspect="1"/>
          </p:cNvPicPr>
          <p:nvPr/>
        </p:nvPicPr>
        <p:blipFill>
          <a:blip r:embed="rId3"/>
          <a:stretch>
            <a:fillRect/>
          </a:stretch>
        </p:blipFill>
        <p:spPr>
          <a:xfrm>
            <a:off x="1600200" y="2468880"/>
            <a:ext cx="457200" cy="457200"/>
          </a:xfrm>
          <a:prstGeom prst="rect">
            <a:avLst/>
          </a:prstGeom>
        </p:spPr>
      </p:pic>
      <p:sp>
        <p:nvSpPr>
          <p:cNvPr id="6" name="Text 3"/>
          <p:cNvSpPr/>
          <p:nvPr/>
        </p:nvSpPr>
        <p:spPr>
          <a:xfrm>
            <a:off x="777240" y="3063240"/>
            <a:ext cx="2194560" cy="365760"/>
          </a:xfrm>
          <a:prstGeom prst="rect">
            <a:avLst/>
          </a:prstGeom>
          <a:noFill/>
          <a:ln/>
        </p:spPr>
        <p:txBody>
          <a:bodyPr wrap="square" rtlCol="0" anchor="ctr"/>
          <a:lstStyle/>
          <a:p>
            <a:pPr marL="0" indent="0" algn="ctr">
              <a:buNone/>
            </a:pPr>
            <a:r>
              <a:rPr lang="en-US" sz="1500" b="1" dirty="0">
                <a:solidFill>
                  <a:srgbClr val="0F2B46"/>
                </a:solidFill>
                <a:latin typeface="Calibri" pitchFamily="34" charset="0"/>
                <a:ea typeface="Calibri" pitchFamily="34" charset="-122"/>
                <a:cs typeface="Calibri" pitchFamily="34" charset="-120"/>
              </a:rPr>
              <a:t>Without ETF</a:t>
            </a:r>
            <a:endParaRPr lang="en-US" sz="1500" dirty="0"/>
          </a:p>
        </p:txBody>
      </p:sp>
      <p:sp>
        <p:nvSpPr>
          <p:cNvPr id="7" name="Text 4"/>
          <p:cNvSpPr/>
          <p:nvPr/>
        </p:nvSpPr>
        <p:spPr>
          <a:xfrm>
            <a:off x="777240" y="3474720"/>
            <a:ext cx="2194560" cy="914400"/>
          </a:xfrm>
          <a:prstGeom prst="rect">
            <a:avLst/>
          </a:prstGeom>
          <a:noFill/>
          <a:ln/>
        </p:spPr>
        <p:txBody>
          <a:bodyPr wrap="square" rtlCol="0" anchor="ctr"/>
          <a:lstStyle/>
          <a:p>
            <a:pPr marL="0" indent="0" algn="ctr">
              <a:lnSpc>
                <a:spcPct val="120000"/>
              </a:lnSpc>
              <a:buNone/>
            </a:pPr>
            <a:r>
              <a:rPr lang="en-US" sz="1200" dirty="0">
                <a:solidFill>
                  <a:srgbClr val="64748B"/>
                </a:solidFill>
                <a:latin typeface="Calibri" pitchFamily="34" charset="0"/>
                <a:ea typeface="Calibri" pitchFamily="34" charset="-122"/>
                <a:cs typeface="Calibri" pitchFamily="34" charset="-120"/>
              </a:rPr>
              <a:t>You must buy all 100 stocks separately — expensive, complex, and time-consuming.</a:t>
            </a:r>
            <a:endParaRPr lang="en-US" sz="1200" dirty="0"/>
          </a:p>
        </p:txBody>
      </p:sp>
      <p:sp>
        <p:nvSpPr>
          <p:cNvPr id="8" name="Shape 5"/>
          <p:cNvSpPr/>
          <p:nvPr/>
        </p:nvSpPr>
        <p:spPr>
          <a:xfrm>
            <a:off x="3429000" y="2286000"/>
            <a:ext cx="2468880" cy="2194560"/>
          </a:xfrm>
          <a:prstGeom prst="roundRect">
            <a:avLst>
              <a:gd name="adj" fmla="val 5000"/>
            </a:avLst>
          </a:prstGeom>
          <a:solidFill>
            <a:srgbClr val="FFFFFF"/>
          </a:solidFill>
          <a:ln/>
          <a:effectLst>
            <a:outerShdw blurRad="76200" dist="25400" dir="2700000" algn="bl" rotWithShape="0">
              <a:srgbClr val="000000">
                <a:alpha val="12000"/>
              </a:srgbClr>
            </a:outerShdw>
          </a:effectLst>
        </p:spPr>
      </p:sp>
      <p:pic>
        <p:nvPicPr>
          <p:cNvPr id="9" name="Image 1" descr="preencoded.png"/>
          <p:cNvPicPr>
            <a:picLocks noChangeAspect="1"/>
          </p:cNvPicPr>
          <p:nvPr/>
        </p:nvPicPr>
        <p:blipFill>
          <a:blip r:embed="rId4"/>
          <a:stretch>
            <a:fillRect/>
          </a:stretch>
        </p:blipFill>
        <p:spPr>
          <a:xfrm>
            <a:off x="4389120" y="2468880"/>
            <a:ext cx="457200" cy="457200"/>
          </a:xfrm>
          <a:prstGeom prst="rect">
            <a:avLst/>
          </a:prstGeom>
        </p:spPr>
      </p:pic>
      <p:sp>
        <p:nvSpPr>
          <p:cNvPr id="10" name="Text 6"/>
          <p:cNvSpPr/>
          <p:nvPr/>
        </p:nvSpPr>
        <p:spPr>
          <a:xfrm>
            <a:off x="3566160" y="3063240"/>
            <a:ext cx="2194560" cy="365760"/>
          </a:xfrm>
          <a:prstGeom prst="rect">
            <a:avLst/>
          </a:prstGeom>
          <a:noFill/>
          <a:ln/>
        </p:spPr>
        <p:txBody>
          <a:bodyPr wrap="square" rtlCol="0" anchor="ctr"/>
          <a:lstStyle/>
          <a:p>
            <a:pPr marL="0" indent="0" algn="ctr">
              <a:buNone/>
            </a:pPr>
            <a:r>
              <a:rPr lang="en-US" sz="1500" b="1" dirty="0">
                <a:solidFill>
                  <a:srgbClr val="0F2B46"/>
                </a:solidFill>
                <a:latin typeface="Calibri" pitchFamily="34" charset="0"/>
                <a:ea typeface="Calibri" pitchFamily="34" charset="-122"/>
                <a:cs typeface="Calibri" pitchFamily="34" charset="-120"/>
              </a:rPr>
              <a:t>With ETF</a:t>
            </a:r>
            <a:endParaRPr lang="en-US" sz="1500" dirty="0"/>
          </a:p>
        </p:txBody>
      </p:sp>
      <p:sp>
        <p:nvSpPr>
          <p:cNvPr id="11" name="Text 7"/>
          <p:cNvSpPr/>
          <p:nvPr/>
        </p:nvSpPr>
        <p:spPr>
          <a:xfrm>
            <a:off x="3566160" y="3474720"/>
            <a:ext cx="2194560" cy="914400"/>
          </a:xfrm>
          <a:prstGeom prst="rect">
            <a:avLst/>
          </a:prstGeom>
          <a:noFill/>
          <a:ln/>
        </p:spPr>
        <p:txBody>
          <a:bodyPr wrap="square" rtlCol="0" anchor="ctr"/>
          <a:lstStyle/>
          <a:p>
            <a:pPr marL="0" indent="0" algn="ctr">
              <a:lnSpc>
                <a:spcPct val="120000"/>
              </a:lnSpc>
              <a:buNone/>
            </a:pPr>
            <a:r>
              <a:rPr lang="en-US" sz="1200" dirty="0">
                <a:solidFill>
                  <a:srgbClr val="64748B"/>
                </a:solidFill>
                <a:latin typeface="Calibri" pitchFamily="34" charset="0"/>
                <a:ea typeface="Calibri" pitchFamily="34" charset="-122"/>
                <a:cs typeface="Calibri" pitchFamily="34" charset="-120"/>
              </a:rPr>
              <a:t>Buy ONE ETF unit and you instantly own a slice of all 100 companies in the correct proportions.</a:t>
            </a:r>
            <a:endParaRPr lang="en-US" sz="1200" dirty="0"/>
          </a:p>
        </p:txBody>
      </p:sp>
      <p:sp>
        <p:nvSpPr>
          <p:cNvPr id="12" name="Shape 8"/>
          <p:cNvSpPr/>
          <p:nvPr/>
        </p:nvSpPr>
        <p:spPr>
          <a:xfrm>
            <a:off x="6217920" y="2286000"/>
            <a:ext cx="2468880" cy="2194560"/>
          </a:xfrm>
          <a:prstGeom prst="roundRect">
            <a:avLst>
              <a:gd name="adj" fmla="val 5000"/>
            </a:avLst>
          </a:prstGeom>
          <a:solidFill>
            <a:srgbClr val="FFFFFF"/>
          </a:solidFill>
          <a:ln/>
          <a:effectLst>
            <a:outerShdw blurRad="76200" dist="25400" dir="2700000" algn="bl" rotWithShape="0">
              <a:srgbClr val="000000">
                <a:alpha val="12000"/>
              </a:srgbClr>
            </a:outerShdw>
          </a:effectLst>
        </p:spPr>
      </p:sp>
      <p:pic>
        <p:nvPicPr>
          <p:cNvPr id="13" name="Image 2" descr="preencoded.png"/>
          <p:cNvPicPr>
            <a:picLocks noChangeAspect="1"/>
          </p:cNvPicPr>
          <p:nvPr/>
        </p:nvPicPr>
        <p:blipFill>
          <a:blip r:embed="rId5"/>
          <a:stretch>
            <a:fillRect/>
          </a:stretch>
        </p:blipFill>
        <p:spPr>
          <a:xfrm>
            <a:off x="7178040" y="2468880"/>
            <a:ext cx="457200" cy="457200"/>
          </a:xfrm>
          <a:prstGeom prst="rect">
            <a:avLst/>
          </a:prstGeom>
        </p:spPr>
      </p:pic>
      <p:sp>
        <p:nvSpPr>
          <p:cNvPr id="14" name="Text 9"/>
          <p:cNvSpPr/>
          <p:nvPr/>
        </p:nvSpPr>
        <p:spPr>
          <a:xfrm>
            <a:off x="6355080" y="3063240"/>
            <a:ext cx="2194560" cy="365760"/>
          </a:xfrm>
          <a:prstGeom prst="rect">
            <a:avLst/>
          </a:prstGeom>
          <a:noFill/>
          <a:ln/>
        </p:spPr>
        <p:txBody>
          <a:bodyPr wrap="square" rtlCol="0" anchor="ctr"/>
          <a:lstStyle/>
          <a:p>
            <a:pPr marL="0" indent="0" algn="ctr">
              <a:buNone/>
            </a:pPr>
            <a:r>
              <a:rPr lang="en-US" sz="1500" b="1" dirty="0">
                <a:solidFill>
                  <a:srgbClr val="0F2B46"/>
                </a:solidFill>
                <a:latin typeface="Calibri" pitchFamily="34" charset="0"/>
                <a:ea typeface="Calibri" pitchFamily="34" charset="-122"/>
                <a:cs typeface="Calibri" pitchFamily="34" charset="-120"/>
              </a:rPr>
              <a:t>Who Uses It?</a:t>
            </a:r>
            <a:endParaRPr lang="en-US" sz="1500" dirty="0"/>
          </a:p>
        </p:txBody>
      </p:sp>
      <p:sp>
        <p:nvSpPr>
          <p:cNvPr id="15" name="Text 10"/>
          <p:cNvSpPr/>
          <p:nvPr/>
        </p:nvSpPr>
        <p:spPr>
          <a:xfrm>
            <a:off x="6355080" y="3474720"/>
            <a:ext cx="2194560" cy="914400"/>
          </a:xfrm>
          <a:prstGeom prst="rect">
            <a:avLst/>
          </a:prstGeom>
          <a:noFill/>
          <a:ln/>
        </p:spPr>
        <p:txBody>
          <a:bodyPr wrap="square" rtlCol="0" anchor="ctr"/>
          <a:lstStyle/>
          <a:p>
            <a:pPr marL="0" indent="0" algn="ctr">
              <a:lnSpc>
                <a:spcPct val="120000"/>
              </a:lnSpc>
              <a:buNone/>
            </a:pPr>
            <a:r>
              <a:rPr lang="en-US" sz="1200" dirty="0">
                <a:solidFill>
                  <a:srgbClr val="64748B"/>
                </a:solidFill>
                <a:latin typeface="Calibri" pitchFamily="34" charset="0"/>
                <a:ea typeface="Calibri" pitchFamily="34" charset="-122"/>
                <a:cs typeface="Calibri" pitchFamily="34" charset="-120"/>
              </a:rPr>
              <a:t>Everyday investors who want broad market exposure without picking individual stocks.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What is a Creation Unit Basket?</a:t>
            </a:r>
            <a:endParaRPr lang="en-US" sz="3200" dirty="0"/>
          </a:p>
        </p:txBody>
      </p:sp>
      <p:sp>
        <p:nvSpPr>
          <p:cNvPr id="3" name="Text 1"/>
          <p:cNvSpPr/>
          <p:nvPr/>
        </p:nvSpPr>
        <p:spPr>
          <a:xfrm>
            <a:off x="457200" y="1005840"/>
            <a:ext cx="8229600" cy="731520"/>
          </a:xfrm>
          <a:prstGeom prst="rect">
            <a:avLst/>
          </a:prstGeom>
          <a:noFill/>
          <a:ln/>
        </p:spPr>
        <p:txBody>
          <a:bodyPr wrap="square" rtlCol="0" anchor="ctr"/>
          <a:lstStyle/>
          <a:p>
            <a:pPr marL="0" indent="0">
              <a:lnSpc>
                <a:spcPct val="120000"/>
              </a:lnSpc>
              <a:buNone/>
            </a:pPr>
            <a:r>
              <a:rPr lang="en-US" sz="1500" dirty="0">
                <a:solidFill>
                  <a:srgbClr val="1E293B"/>
                </a:solidFill>
                <a:latin typeface="Calibri" pitchFamily="34" charset="0"/>
                <a:ea typeface="Calibri" pitchFamily="34" charset="-122"/>
                <a:cs typeface="Calibri" pitchFamily="34" charset="-120"/>
              </a:rPr>
              <a:t>The </a:t>
            </a:r>
            <a:r>
              <a:rPr lang="en-US" sz="1500" b="1" dirty="0">
                <a:solidFill>
                  <a:srgbClr val="1A6DAA"/>
                </a:solidFill>
                <a:latin typeface="Calibri" pitchFamily="34" charset="0"/>
                <a:ea typeface="Calibri" pitchFamily="34" charset="-122"/>
                <a:cs typeface="Calibri" pitchFamily="34" charset="-120"/>
              </a:rPr>
              <a:t>Creation Unit</a:t>
            </a:r>
            <a:r>
              <a:rPr lang="en-US" sz="1500" dirty="0">
                <a:solidFill>
                  <a:srgbClr val="1E293B"/>
                </a:solidFill>
                <a:latin typeface="Calibri" pitchFamily="34" charset="0"/>
                <a:ea typeface="Calibri" pitchFamily="34" charset="-122"/>
                <a:cs typeface="Calibri" pitchFamily="34" charset="-120"/>
              </a:rPr>
              <a:t> is the actual basket of stocks that gets assembled to create new ETF shares. Think of it as the </a:t>
            </a:r>
            <a:r>
              <a:rPr lang="en-US" sz="1500" b="1" i="1" dirty="0">
                <a:solidFill>
                  <a:srgbClr val="1E293B"/>
                </a:solidFill>
                <a:latin typeface="Calibri" pitchFamily="34" charset="0"/>
                <a:ea typeface="Calibri" pitchFamily="34" charset="-122"/>
                <a:cs typeface="Calibri" pitchFamily="34" charset="-120"/>
              </a:rPr>
              <a:t>recipe</a:t>
            </a:r>
            <a:r>
              <a:rPr lang="en-US" sz="1500" dirty="0">
                <a:solidFill>
                  <a:srgbClr val="1E293B"/>
                </a:solidFill>
                <a:latin typeface="Calibri" pitchFamily="34" charset="0"/>
                <a:ea typeface="Calibri" pitchFamily="34" charset="-122"/>
                <a:cs typeface="Calibri" pitchFamily="34" charset="-120"/>
              </a:rPr>
              <a:t> that tells you exactly how many shares of each company to buy.</a:t>
            </a:r>
            <a:endParaRPr lang="en-US" sz="1500" dirty="0"/>
          </a:p>
        </p:txBody>
      </p:sp>
      <p:sp>
        <p:nvSpPr>
          <p:cNvPr id="4" name="Shape 2"/>
          <p:cNvSpPr/>
          <p:nvPr/>
        </p:nvSpPr>
        <p:spPr>
          <a:xfrm>
            <a:off x="1463040" y="2011680"/>
            <a:ext cx="594360" cy="594360"/>
          </a:xfrm>
          <a:prstGeom prst="ellipse">
            <a:avLst/>
          </a:prstGeom>
          <a:solidFill>
            <a:srgbClr val="0F2B46"/>
          </a:solidFill>
          <a:ln/>
        </p:spPr>
      </p:sp>
      <p:sp>
        <p:nvSpPr>
          <p:cNvPr id="5" name="Text 3"/>
          <p:cNvSpPr/>
          <p:nvPr/>
        </p:nvSpPr>
        <p:spPr>
          <a:xfrm>
            <a:off x="1463040" y="201168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p:nvPr/>
        </p:nvSpPr>
        <p:spPr>
          <a:xfrm>
            <a:off x="640080" y="2743200"/>
            <a:ext cx="2286000" cy="411480"/>
          </a:xfrm>
          <a:prstGeom prst="rect">
            <a:avLst/>
          </a:prstGeom>
          <a:noFill/>
          <a:ln/>
        </p:spPr>
        <p:txBody>
          <a:bodyPr wrap="square" rtlCol="0" anchor="ctr"/>
          <a:lstStyle/>
          <a:p>
            <a:pPr marL="0" indent="0" algn="ctr">
              <a:buNone/>
            </a:pPr>
            <a:r>
              <a:rPr lang="en-US" sz="1500" b="1" dirty="0">
                <a:solidFill>
                  <a:srgbClr val="0F2B46"/>
                </a:solidFill>
                <a:latin typeface="Calibri" pitchFamily="34" charset="0"/>
                <a:ea typeface="Calibri" pitchFamily="34" charset="-122"/>
                <a:cs typeface="Calibri" pitchFamily="34" charset="-120"/>
              </a:rPr>
              <a:t>Set the Basket Size</a:t>
            </a:r>
            <a:endParaRPr lang="en-US" sz="1500" dirty="0"/>
          </a:p>
        </p:txBody>
      </p:sp>
      <p:sp>
        <p:nvSpPr>
          <p:cNvPr id="7" name="Text 5"/>
          <p:cNvSpPr/>
          <p:nvPr/>
        </p:nvSpPr>
        <p:spPr>
          <a:xfrm>
            <a:off x="731520" y="3200400"/>
            <a:ext cx="2103120" cy="914400"/>
          </a:xfrm>
          <a:prstGeom prst="rect">
            <a:avLst/>
          </a:prstGeom>
          <a:noFill/>
          <a:ln/>
        </p:spPr>
        <p:txBody>
          <a:bodyPr wrap="square" rtlCol="0" anchor="ctr"/>
          <a:lstStyle/>
          <a:p>
            <a:pPr marL="0" indent="0" algn="ctr">
              <a:lnSpc>
                <a:spcPct val="120000"/>
              </a:lnSpc>
              <a:buNone/>
            </a:pPr>
            <a:r>
              <a:rPr lang="en-US" sz="1200" dirty="0">
                <a:solidFill>
                  <a:srgbClr val="64748B"/>
                </a:solidFill>
                <a:latin typeface="Calibri" pitchFamily="34" charset="0"/>
                <a:ea typeface="Calibri" pitchFamily="34" charset="-122"/>
                <a:cs typeface="Calibri" pitchFamily="34" charset="-120"/>
              </a:rPr>
              <a:t>Decide the total value of the Creation Unit in PKR (e.g. PKR 50 million)</a:t>
            </a:r>
            <a:endParaRPr lang="en-US" sz="1200" dirty="0"/>
          </a:p>
        </p:txBody>
      </p:sp>
      <p:pic>
        <p:nvPicPr>
          <p:cNvPr id="8" name="Image 0" descr="preencoded.png"/>
          <p:cNvPicPr>
            <a:picLocks noChangeAspect="1"/>
          </p:cNvPicPr>
          <p:nvPr/>
        </p:nvPicPr>
        <p:blipFill>
          <a:blip r:embed="rId3"/>
          <a:stretch>
            <a:fillRect/>
          </a:stretch>
        </p:blipFill>
        <p:spPr>
          <a:xfrm>
            <a:off x="2999232" y="2148840"/>
            <a:ext cx="320040" cy="320040"/>
          </a:xfrm>
          <a:prstGeom prst="rect">
            <a:avLst/>
          </a:prstGeom>
        </p:spPr>
      </p:pic>
      <p:sp>
        <p:nvSpPr>
          <p:cNvPr id="9" name="Shape 6"/>
          <p:cNvSpPr/>
          <p:nvPr/>
        </p:nvSpPr>
        <p:spPr>
          <a:xfrm>
            <a:off x="4206240" y="2011680"/>
            <a:ext cx="594360" cy="594360"/>
          </a:xfrm>
          <a:prstGeom prst="ellipse">
            <a:avLst/>
          </a:prstGeom>
          <a:solidFill>
            <a:srgbClr val="0F2B46"/>
          </a:solidFill>
          <a:ln/>
        </p:spPr>
      </p:sp>
      <p:sp>
        <p:nvSpPr>
          <p:cNvPr id="10" name="Text 7"/>
          <p:cNvSpPr/>
          <p:nvPr/>
        </p:nvSpPr>
        <p:spPr>
          <a:xfrm>
            <a:off x="4206240" y="201168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8"/>
          <p:cNvSpPr/>
          <p:nvPr/>
        </p:nvSpPr>
        <p:spPr>
          <a:xfrm>
            <a:off x="3383280" y="2743200"/>
            <a:ext cx="2286000" cy="411480"/>
          </a:xfrm>
          <a:prstGeom prst="rect">
            <a:avLst/>
          </a:prstGeom>
          <a:noFill/>
          <a:ln/>
        </p:spPr>
        <p:txBody>
          <a:bodyPr wrap="square" rtlCol="0" anchor="ctr"/>
          <a:lstStyle/>
          <a:p>
            <a:pPr marL="0" indent="0" algn="ctr">
              <a:buNone/>
            </a:pPr>
            <a:r>
              <a:rPr lang="en-US" sz="1500" b="1" dirty="0">
                <a:solidFill>
                  <a:srgbClr val="0F2B46"/>
                </a:solidFill>
                <a:latin typeface="Calibri" pitchFamily="34" charset="0"/>
                <a:ea typeface="Calibri" pitchFamily="34" charset="-122"/>
                <a:cs typeface="Calibri" pitchFamily="34" charset="-120"/>
              </a:rPr>
              <a:t>Calculate Shares</a:t>
            </a:r>
            <a:endParaRPr lang="en-US" sz="1500" dirty="0"/>
          </a:p>
        </p:txBody>
      </p:sp>
      <p:sp>
        <p:nvSpPr>
          <p:cNvPr id="12" name="Text 9"/>
          <p:cNvSpPr/>
          <p:nvPr/>
        </p:nvSpPr>
        <p:spPr>
          <a:xfrm>
            <a:off x="3474720" y="3200400"/>
            <a:ext cx="2103120" cy="914400"/>
          </a:xfrm>
          <a:prstGeom prst="rect">
            <a:avLst/>
          </a:prstGeom>
          <a:noFill/>
          <a:ln/>
        </p:spPr>
        <p:txBody>
          <a:bodyPr wrap="square" rtlCol="0" anchor="ctr"/>
          <a:lstStyle/>
          <a:p>
            <a:pPr marL="0" indent="0" algn="ctr">
              <a:lnSpc>
                <a:spcPct val="120000"/>
              </a:lnSpc>
              <a:buNone/>
            </a:pPr>
            <a:r>
              <a:rPr lang="en-US" sz="1200" dirty="0">
                <a:solidFill>
                  <a:srgbClr val="64748B"/>
                </a:solidFill>
                <a:latin typeface="Calibri" pitchFamily="34" charset="0"/>
                <a:ea typeface="Calibri" pitchFamily="34" charset="-122"/>
                <a:cs typeface="Calibri" pitchFamily="34" charset="-120"/>
              </a:rPr>
              <a:t>Use index weights to determine how many shares of each company to buy</a:t>
            </a:r>
            <a:endParaRPr lang="en-US" sz="1200" dirty="0"/>
          </a:p>
        </p:txBody>
      </p:sp>
      <p:pic>
        <p:nvPicPr>
          <p:cNvPr id="13" name="Image 1" descr="preencoded.png"/>
          <p:cNvPicPr>
            <a:picLocks noChangeAspect="1"/>
          </p:cNvPicPr>
          <p:nvPr/>
        </p:nvPicPr>
        <p:blipFill>
          <a:blip r:embed="rId3"/>
          <a:stretch>
            <a:fillRect/>
          </a:stretch>
        </p:blipFill>
        <p:spPr>
          <a:xfrm>
            <a:off x="5742432" y="2148840"/>
            <a:ext cx="320040" cy="320040"/>
          </a:xfrm>
          <a:prstGeom prst="rect">
            <a:avLst/>
          </a:prstGeom>
        </p:spPr>
      </p:pic>
      <p:sp>
        <p:nvSpPr>
          <p:cNvPr id="14" name="Shape 10"/>
          <p:cNvSpPr/>
          <p:nvPr/>
        </p:nvSpPr>
        <p:spPr>
          <a:xfrm>
            <a:off x="6949440" y="2011680"/>
            <a:ext cx="594360" cy="594360"/>
          </a:xfrm>
          <a:prstGeom prst="ellipse">
            <a:avLst/>
          </a:prstGeom>
          <a:solidFill>
            <a:srgbClr val="0F2B46"/>
          </a:solidFill>
          <a:ln/>
        </p:spPr>
      </p:sp>
      <p:sp>
        <p:nvSpPr>
          <p:cNvPr id="15" name="Text 11"/>
          <p:cNvSpPr/>
          <p:nvPr/>
        </p:nvSpPr>
        <p:spPr>
          <a:xfrm>
            <a:off x="6949440" y="201168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6" name="Text 12"/>
          <p:cNvSpPr/>
          <p:nvPr/>
        </p:nvSpPr>
        <p:spPr>
          <a:xfrm>
            <a:off x="6126480" y="2743200"/>
            <a:ext cx="2286000" cy="411480"/>
          </a:xfrm>
          <a:prstGeom prst="rect">
            <a:avLst/>
          </a:prstGeom>
          <a:noFill/>
          <a:ln/>
        </p:spPr>
        <p:txBody>
          <a:bodyPr wrap="square" rtlCol="0" anchor="ctr"/>
          <a:lstStyle/>
          <a:p>
            <a:pPr marL="0" indent="0" algn="ctr">
              <a:buNone/>
            </a:pPr>
            <a:r>
              <a:rPr lang="en-US" sz="1500" b="1" dirty="0">
                <a:solidFill>
                  <a:srgbClr val="0F2B46"/>
                </a:solidFill>
                <a:latin typeface="Calibri" pitchFamily="34" charset="0"/>
                <a:ea typeface="Calibri" pitchFamily="34" charset="-122"/>
                <a:cs typeface="Calibri" pitchFamily="34" charset="-120"/>
              </a:rPr>
              <a:t>Assemble Basket</a:t>
            </a:r>
            <a:endParaRPr lang="en-US" sz="1500" dirty="0"/>
          </a:p>
        </p:txBody>
      </p:sp>
      <p:sp>
        <p:nvSpPr>
          <p:cNvPr id="17" name="Text 13"/>
          <p:cNvSpPr/>
          <p:nvPr/>
        </p:nvSpPr>
        <p:spPr>
          <a:xfrm>
            <a:off x="6217920" y="3200400"/>
            <a:ext cx="2103120" cy="914400"/>
          </a:xfrm>
          <a:prstGeom prst="rect">
            <a:avLst/>
          </a:prstGeom>
          <a:noFill/>
          <a:ln/>
        </p:spPr>
        <p:txBody>
          <a:bodyPr wrap="square" rtlCol="0" anchor="ctr"/>
          <a:lstStyle/>
          <a:p>
            <a:pPr marL="0" indent="0" algn="ctr">
              <a:lnSpc>
                <a:spcPct val="120000"/>
              </a:lnSpc>
              <a:buNone/>
            </a:pPr>
            <a:r>
              <a:rPr lang="en-US" sz="1200" dirty="0">
                <a:solidFill>
                  <a:srgbClr val="64748B"/>
                </a:solidFill>
                <a:latin typeface="Calibri" pitchFamily="34" charset="0"/>
                <a:ea typeface="Calibri" pitchFamily="34" charset="-122"/>
                <a:cs typeface="Calibri" pitchFamily="34" charset="-120"/>
              </a:rPr>
              <a:t>Buy whole shares of each company, keeping a small cash reserve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The Challenge: Why Automate?</a:t>
            </a:r>
            <a:endParaRPr lang="en-US" sz="3200" dirty="0"/>
          </a:p>
        </p:txBody>
      </p:sp>
      <p:sp>
        <p:nvSpPr>
          <p:cNvPr id="3" name="Shape 1"/>
          <p:cNvSpPr/>
          <p:nvPr/>
        </p:nvSpPr>
        <p:spPr>
          <a:xfrm>
            <a:off x="457200" y="1188720"/>
            <a:ext cx="3840480" cy="3291840"/>
          </a:xfrm>
          <a:prstGeom prst="roundRect">
            <a:avLst>
              <a:gd name="adj" fmla="val 3333"/>
            </a:avLst>
          </a:prstGeom>
          <a:solidFill>
            <a:srgbClr val="FEF2F2"/>
          </a:solidFill>
          <a:ln/>
          <a:effectLst>
            <a:outerShdw blurRad="76200" dist="25400" dir="2700000" algn="bl" rotWithShape="0">
              <a:srgbClr val="000000">
                <a:alpha val="12000"/>
              </a:srgbClr>
            </a:outerShdw>
          </a:effectLst>
        </p:spPr>
      </p:sp>
      <p:sp>
        <p:nvSpPr>
          <p:cNvPr id="4" name="Text 2"/>
          <p:cNvSpPr/>
          <p:nvPr/>
        </p:nvSpPr>
        <p:spPr>
          <a:xfrm>
            <a:off x="457200" y="1325880"/>
            <a:ext cx="3840480" cy="411480"/>
          </a:xfrm>
          <a:prstGeom prst="rect">
            <a:avLst/>
          </a:prstGeom>
          <a:noFill/>
          <a:ln/>
        </p:spPr>
        <p:txBody>
          <a:bodyPr wrap="square" rtlCol="0" anchor="ctr"/>
          <a:lstStyle/>
          <a:p>
            <a:pPr marL="0" indent="0" algn="ctr">
              <a:buNone/>
            </a:pPr>
            <a:r>
              <a:rPr lang="en-US" sz="1600" b="1" dirty="0">
                <a:solidFill>
                  <a:srgbClr val="DC2626"/>
                </a:solidFill>
                <a:latin typeface="Calibri" pitchFamily="34" charset="0"/>
                <a:ea typeface="Calibri" pitchFamily="34" charset="-122"/>
                <a:cs typeface="Calibri" pitchFamily="34" charset="-120"/>
              </a:rPr>
              <a:t>Before: Manual in Excel</a:t>
            </a:r>
            <a:endParaRPr lang="en-US" sz="1600" dirty="0"/>
          </a:p>
        </p:txBody>
      </p:sp>
      <p:sp>
        <p:nvSpPr>
          <p:cNvPr id="5" name="Text 3"/>
          <p:cNvSpPr/>
          <p:nvPr/>
        </p:nvSpPr>
        <p:spPr>
          <a:xfrm>
            <a:off x="731520" y="1828800"/>
            <a:ext cx="3291840" cy="2468880"/>
          </a:xfrm>
          <a:prstGeom prst="rect">
            <a:avLst/>
          </a:prstGeom>
          <a:noFill/>
          <a:ln/>
        </p:spPr>
        <p:txBody>
          <a:bodyPr wrap="square" rtlCol="0" anchor="ctr"/>
          <a:lstStyle/>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100 rows of calculations</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Manual rounding of each share count</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Cash can accidentally go negative</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Tedious repair by trial and error</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Easy to make copy-paste errors</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Must redo for every new basket size</a:t>
            </a:r>
            <a:endParaRPr lang="en-US" sz="1300" dirty="0"/>
          </a:p>
        </p:txBody>
      </p:sp>
      <p:sp>
        <p:nvSpPr>
          <p:cNvPr id="6" name="Shape 4"/>
          <p:cNvSpPr/>
          <p:nvPr/>
        </p:nvSpPr>
        <p:spPr>
          <a:xfrm>
            <a:off x="4846320" y="1188720"/>
            <a:ext cx="3840480" cy="3291840"/>
          </a:xfrm>
          <a:prstGeom prst="roundRect">
            <a:avLst>
              <a:gd name="adj" fmla="val 3333"/>
            </a:avLst>
          </a:prstGeom>
          <a:solidFill>
            <a:srgbClr val="F0FDF4"/>
          </a:solidFill>
          <a:ln/>
          <a:effectLst>
            <a:outerShdw blurRad="76200" dist="25400" dir="2700000" algn="bl" rotWithShape="0">
              <a:srgbClr val="000000">
                <a:alpha val="12000"/>
              </a:srgbClr>
            </a:outerShdw>
          </a:effectLst>
        </p:spPr>
      </p:sp>
      <p:sp>
        <p:nvSpPr>
          <p:cNvPr id="7" name="Text 5"/>
          <p:cNvSpPr/>
          <p:nvPr/>
        </p:nvSpPr>
        <p:spPr>
          <a:xfrm>
            <a:off x="4846320" y="1325880"/>
            <a:ext cx="3840480" cy="411480"/>
          </a:xfrm>
          <a:prstGeom prst="rect">
            <a:avLst/>
          </a:prstGeom>
          <a:noFill/>
          <a:ln/>
        </p:spPr>
        <p:txBody>
          <a:bodyPr wrap="square" rtlCol="0" anchor="ctr"/>
          <a:lstStyle/>
          <a:p>
            <a:pPr marL="0" indent="0" algn="ctr">
              <a:buNone/>
            </a:pPr>
            <a:r>
              <a:rPr lang="en-US" sz="1600" b="1" dirty="0">
                <a:solidFill>
                  <a:srgbClr val="16A34A"/>
                </a:solidFill>
                <a:latin typeface="Calibri" pitchFamily="34" charset="0"/>
                <a:ea typeface="Calibri" pitchFamily="34" charset="-122"/>
                <a:cs typeface="Calibri" pitchFamily="34" charset="-120"/>
              </a:rPr>
              <a:t>After: Automated in Python</a:t>
            </a:r>
            <a:endParaRPr lang="en-US" sz="1600" dirty="0"/>
          </a:p>
        </p:txBody>
      </p:sp>
      <p:sp>
        <p:nvSpPr>
          <p:cNvPr id="8" name="Text 6"/>
          <p:cNvSpPr/>
          <p:nvPr/>
        </p:nvSpPr>
        <p:spPr>
          <a:xfrm>
            <a:off x="5120640" y="1828800"/>
            <a:ext cx="3291840" cy="2468880"/>
          </a:xfrm>
          <a:prstGeom prst="rect">
            <a:avLst/>
          </a:prstGeom>
          <a:noFill/>
          <a:ln/>
        </p:spPr>
        <p:txBody>
          <a:bodyPr wrap="square" rtlCol="0" anchor="ctr"/>
          <a:lstStyle/>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All 100 stocks processed instantly</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Automatic rounding to whole shares</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Built-in cash protection logic</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Systematic, repeatable repairs</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Zero manual errors</a:t>
            </a:r>
            <a:endParaRPr lang="en-US" sz="1300" dirty="0"/>
          </a:p>
          <a:p>
            <a:pPr marL="342900" indent="-342900">
              <a:lnSpc>
                <a:spcPct val="140000"/>
              </a:lnSpc>
              <a:buSzPct val="100000"/>
              <a:buChar char="•"/>
            </a:pPr>
            <a:r>
              <a:rPr lang="en-US" sz="1300" dirty="0">
                <a:solidFill>
                  <a:srgbClr val="1E293B"/>
                </a:solidFill>
                <a:latin typeface="Calibri" pitchFamily="34" charset="0"/>
                <a:ea typeface="Calibri" pitchFamily="34" charset="-122"/>
                <a:cs typeface="Calibri" pitchFamily="34" charset="-120"/>
              </a:rPr>
              <a:t>Re-run in seconds for any size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Input: The KSE-100 CSV File</a:t>
            </a:r>
            <a:endParaRPr lang="en-US" sz="3200" dirty="0"/>
          </a:p>
        </p:txBody>
      </p:sp>
      <p:sp>
        <p:nvSpPr>
          <p:cNvPr id="3" name="Text 1"/>
          <p:cNvSpPr/>
          <p:nvPr/>
        </p:nvSpPr>
        <p:spPr>
          <a:xfrm>
            <a:off x="457200" y="868680"/>
            <a:ext cx="8229600" cy="36576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Downloaded from the Pakistan Stock Exchange and saved as 20251008_kse100.csv</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7863840" cy="2240280"/>
        </p:xfrm>
        <a:graphic>
          <a:graphicData uri="http://schemas.openxmlformats.org/drawingml/2006/table">
            <a:tbl>
              <a:tblPr/>
              <a:tblGrid>
                <a:gridCol w="1371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200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SYMBOL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COMPANY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IDX WT %</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extLst>
                  <a:ext uri="{0D108BD9-81ED-4DB2-BD59-A6C34878D82A}">
                    <a16:rowId xmlns:a16="http://schemas.microsoft.com/office/drawing/2014/main" val="10000"/>
                  </a:ext>
                </a:extLst>
              </a:tr>
              <a:tr h="274320">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UBL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United Bank Limited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382.80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6.81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274320">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MCB</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MCB Bank Limited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350.06</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5.20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OGDC</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Oil &amp; Gas Dev. Co.</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219.83</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4.59</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274320">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HBL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Habib Bank Limited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274.32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4.06</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LUCK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Lucky Cement Ltd</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1,413.77</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3.56</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274320">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 (100 companies total)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YOUW</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Yousaf Weaving Mills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6.35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7"/>
                  </a:ext>
                </a:extLst>
              </a:tr>
            </a:tbl>
          </a:graphicData>
        </a:graphic>
      </p:graphicFrame>
      <p:sp>
        <p:nvSpPr>
          <p:cNvPr id="5" name="Text 2"/>
          <p:cNvSpPr/>
          <p:nvPr/>
        </p:nvSpPr>
        <p:spPr>
          <a:xfrm>
            <a:off x="457200" y="3840480"/>
            <a:ext cx="8229600" cy="548640"/>
          </a:xfrm>
          <a:prstGeom prst="rect">
            <a:avLst/>
          </a:prstGeom>
          <a:noFill/>
          <a:ln/>
        </p:spPr>
        <p:txBody>
          <a:bodyPr wrap="square" rtlCol="0" anchor="ctr"/>
          <a:lstStyle/>
          <a:p>
            <a:pPr marL="0" indent="0">
              <a:lnSpc>
                <a:spcPct val="120000"/>
              </a:lnSpc>
              <a:buNone/>
            </a:pPr>
            <a:r>
              <a:rPr lang="en-US" sz="1200" b="1" dirty="0">
                <a:solidFill>
                  <a:srgbClr val="64748B"/>
                </a:solidFill>
                <a:latin typeface="Calibri" pitchFamily="34" charset="0"/>
                <a:ea typeface="Calibri" pitchFamily="34" charset="-122"/>
                <a:cs typeface="Calibri" pitchFamily="34" charset="-120"/>
              </a:rPr>
              <a:t>5 columns are used</a:t>
            </a:r>
            <a:r>
              <a:rPr lang="en-US" sz="1200" dirty="0">
                <a:solidFill>
                  <a:srgbClr val="64748B"/>
                </a:solidFill>
                <a:latin typeface="Calibri" pitchFamily="34" charset="0"/>
                <a:ea typeface="Calibri" pitchFamily="34" charset="-122"/>
                <a:cs typeface="Calibri" pitchFamily="34" charset="-120"/>
              </a:rPr>
              <a:t> by the program: ISIN, SYMBOL, COMPANY, PRICE, and IDX WT %. The remaining 5 columns (FF BASED SHARES, FF BASED MCAP, ORD SHARES, ORD SHARES MCAP, VOLUME) are not used in calculations.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Three Key Parameters</a:t>
            </a:r>
            <a:endParaRPr lang="en-US" sz="3200" dirty="0"/>
          </a:p>
        </p:txBody>
      </p:sp>
      <p:sp>
        <p:nvSpPr>
          <p:cNvPr id="3" name="Shape 1"/>
          <p:cNvSpPr/>
          <p:nvPr/>
        </p:nvSpPr>
        <p:spPr>
          <a:xfrm>
            <a:off x="457200" y="1097280"/>
            <a:ext cx="8229600" cy="1051560"/>
          </a:xfrm>
          <a:prstGeom prst="roundRect">
            <a:avLst>
              <a:gd name="adj" fmla="val 8696"/>
            </a:avLst>
          </a:prstGeom>
          <a:solidFill>
            <a:srgbClr val="FFFFFF"/>
          </a:solidFill>
          <a:ln/>
          <a:effectLst>
            <a:outerShdw blurRad="76200" dist="25400" dir="2700000" algn="bl" rotWithShape="0">
              <a:srgbClr val="000000">
                <a:alpha val="12000"/>
              </a:srgbClr>
            </a:outerShdw>
          </a:effectLst>
        </p:spPr>
      </p:sp>
      <p:sp>
        <p:nvSpPr>
          <p:cNvPr id="4" name="Shape 2"/>
          <p:cNvSpPr/>
          <p:nvPr/>
        </p:nvSpPr>
        <p:spPr>
          <a:xfrm>
            <a:off x="685800" y="1280160"/>
            <a:ext cx="640080" cy="640080"/>
          </a:xfrm>
          <a:prstGeom prst="ellipse">
            <a:avLst/>
          </a:prstGeom>
          <a:solidFill>
            <a:srgbClr val="1A6DAA"/>
          </a:solidFill>
          <a:ln/>
        </p:spPr>
      </p:sp>
      <p:pic>
        <p:nvPicPr>
          <p:cNvPr id="5" name="Image 0" descr="preencoded.png"/>
          <p:cNvPicPr>
            <a:picLocks noChangeAspect="1"/>
          </p:cNvPicPr>
          <p:nvPr/>
        </p:nvPicPr>
        <p:blipFill>
          <a:blip r:embed="rId3"/>
          <a:stretch>
            <a:fillRect/>
          </a:stretch>
        </p:blipFill>
        <p:spPr>
          <a:xfrm>
            <a:off x="804672" y="1399032"/>
            <a:ext cx="411480" cy="411480"/>
          </a:xfrm>
          <a:prstGeom prst="rect">
            <a:avLst/>
          </a:prstGeom>
        </p:spPr>
      </p:pic>
      <p:sp>
        <p:nvSpPr>
          <p:cNvPr id="6" name="Text 3"/>
          <p:cNvSpPr/>
          <p:nvPr/>
        </p:nvSpPr>
        <p:spPr>
          <a:xfrm>
            <a:off x="1554480" y="1188720"/>
            <a:ext cx="2743200" cy="365760"/>
          </a:xfrm>
          <a:prstGeom prst="rect">
            <a:avLst/>
          </a:prstGeom>
          <a:noFill/>
          <a:ln/>
        </p:spPr>
        <p:txBody>
          <a:bodyPr wrap="square" lIns="0" tIns="0" rIns="0" bIns="0" rtlCol="0" anchor="ctr"/>
          <a:lstStyle/>
          <a:p>
            <a:pPr marL="0" indent="0">
              <a:buNone/>
            </a:pPr>
            <a:r>
              <a:rPr lang="en-US" sz="1600" b="1" dirty="0">
                <a:solidFill>
                  <a:srgbClr val="0F2B46"/>
                </a:solidFill>
                <a:latin typeface="Calibri" pitchFamily="34" charset="0"/>
                <a:ea typeface="Calibri" pitchFamily="34" charset="-122"/>
                <a:cs typeface="Calibri" pitchFamily="34" charset="-120"/>
              </a:rPr>
              <a:t>CSV Date</a:t>
            </a:r>
            <a:endParaRPr lang="en-US" sz="1600" dirty="0"/>
          </a:p>
        </p:txBody>
      </p:sp>
      <p:sp>
        <p:nvSpPr>
          <p:cNvPr id="7" name="Text 4"/>
          <p:cNvSpPr/>
          <p:nvPr/>
        </p:nvSpPr>
        <p:spPr>
          <a:xfrm>
            <a:off x="1554480" y="1554480"/>
            <a:ext cx="3200400" cy="502920"/>
          </a:xfrm>
          <a:prstGeom prst="rect">
            <a:avLst/>
          </a:prstGeom>
          <a:noFill/>
          <a:ln/>
        </p:spPr>
        <p:txBody>
          <a:bodyPr wrap="square" lIns="0" tIns="0" rIns="0" bIns="0" rtlCol="0" anchor="ctr"/>
          <a:lstStyle/>
          <a:p>
            <a:pPr marL="0" indent="0">
              <a:lnSpc>
                <a:spcPct val="115000"/>
              </a:lnSpc>
              <a:buNone/>
            </a:pPr>
            <a:r>
              <a:rPr lang="en-US" sz="1200" dirty="0">
                <a:solidFill>
                  <a:srgbClr val="64748B"/>
                </a:solidFill>
                <a:latin typeface="Calibri" pitchFamily="34" charset="0"/>
                <a:ea typeface="Calibri" pitchFamily="34" charset="-122"/>
                <a:cs typeface="Calibri" pitchFamily="34" charset="-120"/>
              </a:rPr>
              <a:t>Selects which day’s index data to use.</a:t>
            </a:r>
            <a:endParaRPr lang="en-US" sz="1200" dirty="0"/>
          </a:p>
          <a:p>
            <a:pPr marL="0" indent="0">
              <a:lnSpc>
                <a:spcPct val="115000"/>
              </a:lnSpc>
              <a:buNone/>
            </a:pPr>
            <a:r>
              <a:rPr lang="en-US" sz="1200" dirty="0">
                <a:solidFill>
                  <a:srgbClr val="64748B"/>
                </a:solidFill>
                <a:latin typeface="Calibri" pitchFamily="34" charset="0"/>
                <a:ea typeface="Calibri" pitchFamily="34" charset="-122"/>
                <a:cs typeface="Calibri" pitchFamily="34" charset="-120"/>
              </a:rPr>
              <a:t>Example: 2025-10-08</a:t>
            </a:r>
            <a:endParaRPr lang="en-US" sz="1200" dirty="0"/>
          </a:p>
        </p:txBody>
      </p:sp>
      <p:sp>
        <p:nvSpPr>
          <p:cNvPr id="8" name="Text 5"/>
          <p:cNvSpPr/>
          <p:nvPr/>
        </p:nvSpPr>
        <p:spPr>
          <a:xfrm>
            <a:off x="5029200" y="1325880"/>
            <a:ext cx="3383280" cy="502920"/>
          </a:xfrm>
          <a:prstGeom prst="rect">
            <a:avLst/>
          </a:prstGeom>
          <a:noFill/>
          <a:ln/>
        </p:spPr>
        <p:txBody>
          <a:bodyPr wrap="square" rtlCol="0" anchor="ctr"/>
          <a:lstStyle/>
          <a:p>
            <a:pPr marL="0" indent="0" algn="ctr">
              <a:buNone/>
            </a:pPr>
            <a:r>
              <a:rPr lang="en-US" sz="1200" i="1" dirty="0">
                <a:solidFill>
                  <a:srgbClr val="0D9488"/>
                </a:solidFill>
                <a:latin typeface="Calibri" pitchFamily="34" charset="0"/>
                <a:ea typeface="Calibri" pitchFamily="34" charset="-122"/>
                <a:cs typeface="Calibri" pitchFamily="34" charset="-120"/>
              </a:rPr>
              <a:t>20251008_kse100.csv</a:t>
            </a:r>
            <a:endParaRPr lang="en-US" sz="1200" dirty="0"/>
          </a:p>
        </p:txBody>
      </p:sp>
      <p:sp>
        <p:nvSpPr>
          <p:cNvPr id="9" name="Shape 6"/>
          <p:cNvSpPr/>
          <p:nvPr/>
        </p:nvSpPr>
        <p:spPr>
          <a:xfrm>
            <a:off x="457200" y="2331720"/>
            <a:ext cx="8229600" cy="1051560"/>
          </a:xfrm>
          <a:prstGeom prst="roundRect">
            <a:avLst>
              <a:gd name="adj" fmla="val 8696"/>
            </a:avLst>
          </a:prstGeom>
          <a:solidFill>
            <a:srgbClr val="FFFFFF"/>
          </a:solidFill>
          <a:ln/>
          <a:effectLst>
            <a:outerShdw blurRad="76200" dist="25400" dir="2700000" algn="bl" rotWithShape="0">
              <a:srgbClr val="000000">
                <a:alpha val="12000"/>
              </a:srgbClr>
            </a:outerShdw>
          </a:effectLst>
        </p:spPr>
      </p:sp>
      <p:sp>
        <p:nvSpPr>
          <p:cNvPr id="10" name="Shape 7"/>
          <p:cNvSpPr/>
          <p:nvPr/>
        </p:nvSpPr>
        <p:spPr>
          <a:xfrm>
            <a:off x="685800" y="2514600"/>
            <a:ext cx="640080" cy="640080"/>
          </a:xfrm>
          <a:prstGeom prst="ellipse">
            <a:avLst/>
          </a:prstGeom>
          <a:solidFill>
            <a:srgbClr val="1A6DAA"/>
          </a:solidFill>
          <a:ln/>
        </p:spPr>
      </p:sp>
      <p:pic>
        <p:nvPicPr>
          <p:cNvPr id="11" name="Image 1" descr="preencoded.png"/>
          <p:cNvPicPr>
            <a:picLocks noChangeAspect="1"/>
          </p:cNvPicPr>
          <p:nvPr/>
        </p:nvPicPr>
        <p:blipFill>
          <a:blip r:embed="rId4"/>
          <a:stretch>
            <a:fillRect/>
          </a:stretch>
        </p:blipFill>
        <p:spPr>
          <a:xfrm>
            <a:off x="804672" y="2633472"/>
            <a:ext cx="411480" cy="411480"/>
          </a:xfrm>
          <a:prstGeom prst="rect">
            <a:avLst/>
          </a:prstGeom>
        </p:spPr>
      </p:pic>
      <p:sp>
        <p:nvSpPr>
          <p:cNvPr id="12" name="Text 8"/>
          <p:cNvSpPr/>
          <p:nvPr/>
        </p:nvSpPr>
        <p:spPr>
          <a:xfrm>
            <a:off x="1554480" y="2423160"/>
            <a:ext cx="2743200" cy="365760"/>
          </a:xfrm>
          <a:prstGeom prst="rect">
            <a:avLst/>
          </a:prstGeom>
          <a:noFill/>
          <a:ln/>
        </p:spPr>
        <p:txBody>
          <a:bodyPr wrap="square" lIns="0" tIns="0" rIns="0" bIns="0" rtlCol="0" anchor="ctr"/>
          <a:lstStyle/>
          <a:p>
            <a:pPr marL="0" indent="0">
              <a:buNone/>
            </a:pPr>
            <a:r>
              <a:rPr lang="en-US" sz="1600" b="1" dirty="0">
                <a:solidFill>
                  <a:srgbClr val="0F2B46"/>
                </a:solidFill>
                <a:latin typeface="Calibri" pitchFamily="34" charset="0"/>
                <a:ea typeface="Calibri" pitchFamily="34" charset="-122"/>
                <a:cs typeface="Calibri" pitchFamily="34" charset="-120"/>
              </a:rPr>
              <a:t>Basket Size (PKR)</a:t>
            </a:r>
            <a:endParaRPr lang="en-US" sz="1600" dirty="0"/>
          </a:p>
        </p:txBody>
      </p:sp>
      <p:sp>
        <p:nvSpPr>
          <p:cNvPr id="13" name="Text 9"/>
          <p:cNvSpPr/>
          <p:nvPr/>
        </p:nvSpPr>
        <p:spPr>
          <a:xfrm>
            <a:off x="1554480" y="2788920"/>
            <a:ext cx="3200400" cy="502920"/>
          </a:xfrm>
          <a:prstGeom prst="rect">
            <a:avLst/>
          </a:prstGeom>
          <a:noFill/>
          <a:ln/>
        </p:spPr>
        <p:txBody>
          <a:bodyPr wrap="square" lIns="0" tIns="0" rIns="0" bIns="0" rtlCol="0" anchor="ctr"/>
          <a:lstStyle/>
          <a:p>
            <a:pPr marL="0" indent="0">
              <a:lnSpc>
                <a:spcPct val="115000"/>
              </a:lnSpc>
              <a:buNone/>
            </a:pPr>
            <a:r>
              <a:rPr lang="en-US" sz="1200" dirty="0">
                <a:solidFill>
                  <a:srgbClr val="64748B"/>
                </a:solidFill>
                <a:latin typeface="Calibri" pitchFamily="34" charset="0"/>
                <a:ea typeface="Calibri" pitchFamily="34" charset="-122"/>
                <a:cs typeface="Calibri" pitchFamily="34" charset="-120"/>
              </a:rPr>
              <a:t>Total value of the Creation Unit.</a:t>
            </a:r>
            <a:endParaRPr lang="en-US" sz="1200" dirty="0"/>
          </a:p>
          <a:p>
            <a:pPr marL="0" indent="0">
              <a:lnSpc>
                <a:spcPct val="115000"/>
              </a:lnSpc>
              <a:buNone/>
            </a:pPr>
            <a:r>
              <a:rPr lang="en-US" sz="1200" dirty="0">
                <a:solidFill>
                  <a:srgbClr val="64748B"/>
                </a:solidFill>
                <a:latin typeface="Calibri" pitchFamily="34" charset="0"/>
                <a:ea typeface="Calibri" pitchFamily="34" charset="-122"/>
                <a:cs typeface="Calibri" pitchFamily="34" charset="-120"/>
              </a:rPr>
              <a:t>Example: PKR 300,000</a:t>
            </a:r>
            <a:endParaRPr lang="en-US" sz="1200" dirty="0"/>
          </a:p>
        </p:txBody>
      </p:sp>
      <p:sp>
        <p:nvSpPr>
          <p:cNvPr id="14" name="Text 10"/>
          <p:cNvSpPr/>
          <p:nvPr/>
        </p:nvSpPr>
        <p:spPr>
          <a:xfrm>
            <a:off x="5029200" y="2560320"/>
            <a:ext cx="3383280" cy="502920"/>
          </a:xfrm>
          <a:prstGeom prst="rect">
            <a:avLst/>
          </a:prstGeom>
          <a:noFill/>
          <a:ln/>
        </p:spPr>
        <p:txBody>
          <a:bodyPr wrap="square" rtlCol="0" anchor="ctr"/>
          <a:lstStyle/>
          <a:p>
            <a:pPr marL="0" indent="0" algn="ctr">
              <a:buNone/>
            </a:pPr>
            <a:r>
              <a:rPr lang="en-US" sz="1200" i="1" dirty="0">
                <a:solidFill>
                  <a:srgbClr val="0D9488"/>
                </a:solidFill>
                <a:latin typeface="Calibri" pitchFamily="34" charset="0"/>
                <a:ea typeface="Calibri" pitchFamily="34" charset="-122"/>
                <a:cs typeface="Calibri" pitchFamily="34" charset="-120"/>
              </a:rPr>
              <a:t>Determines how many shares per company</a:t>
            </a:r>
            <a:endParaRPr lang="en-US" sz="1200" dirty="0"/>
          </a:p>
        </p:txBody>
      </p:sp>
      <p:sp>
        <p:nvSpPr>
          <p:cNvPr id="15" name="Shape 11"/>
          <p:cNvSpPr/>
          <p:nvPr/>
        </p:nvSpPr>
        <p:spPr>
          <a:xfrm>
            <a:off x="457200" y="3566160"/>
            <a:ext cx="8229600" cy="1051560"/>
          </a:xfrm>
          <a:prstGeom prst="roundRect">
            <a:avLst>
              <a:gd name="adj" fmla="val 8696"/>
            </a:avLst>
          </a:prstGeom>
          <a:solidFill>
            <a:srgbClr val="FFFFFF"/>
          </a:solidFill>
          <a:ln/>
          <a:effectLst>
            <a:outerShdw blurRad="76200" dist="25400" dir="2700000" algn="bl" rotWithShape="0">
              <a:srgbClr val="000000">
                <a:alpha val="12000"/>
              </a:srgbClr>
            </a:outerShdw>
          </a:effectLst>
        </p:spPr>
      </p:sp>
      <p:sp>
        <p:nvSpPr>
          <p:cNvPr id="16" name="Shape 12"/>
          <p:cNvSpPr/>
          <p:nvPr/>
        </p:nvSpPr>
        <p:spPr>
          <a:xfrm>
            <a:off x="685800" y="3749040"/>
            <a:ext cx="640080" cy="640080"/>
          </a:xfrm>
          <a:prstGeom prst="ellipse">
            <a:avLst/>
          </a:prstGeom>
          <a:solidFill>
            <a:srgbClr val="1A6DAA"/>
          </a:solidFill>
          <a:ln/>
        </p:spPr>
      </p:sp>
      <p:pic>
        <p:nvPicPr>
          <p:cNvPr id="17" name="Image 2" descr="preencoded.png"/>
          <p:cNvPicPr>
            <a:picLocks noChangeAspect="1"/>
          </p:cNvPicPr>
          <p:nvPr/>
        </p:nvPicPr>
        <p:blipFill>
          <a:blip r:embed="rId5"/>
          <a:stretch>
            <a:fillRect/>
          </a:stretch>
        </p:blipFill>
        <p:spPr>
          <a:xfrm>
            <a:off x="804672" y="3867912"/>
            <a:ext cx="411480" cy="411480"/>
          </a:xfrm>
          <a:prstGeom prst="rect">
            <a:avLst/>
          </a:prstGeom>
        </p:spPr>
      </p:pic>
      <p:sp>
        <p:nvSpPr>
          <p:cNvPr id="18" name="Text 13"/>
          <p:cNvSpPr/>
          <p:nvPr/>
        </p:nvSpPr>
        <p:spPr>
          <a:xfrm>
            <a:off x="1554480" y="3657600"/>
            <a:ext cx="2743200" cy="365760"/>
          </a:xfrm>
          <a:prstGeom prst="rect">
            <a:avLst/>
          </a:prstGeom>
          <a:noFill/>
          <a:ln/>
        </p:spPr>
        <p:txBody>
          <a:bodyPr wrap="square" lIns="0" tIns="0" rIns="0" bIns="0" rtlCol="0" anchor="ctr"/>
          <a:lstStyle/>
          <a:p>
            <a:pPr marL="0" indent="0">
              <a:buNone/>
            </a:pPr>
            <a:r>
              <a:rPr lang="en-US" sz="1600" b="1" dirty="0">
                <a:solidFill>
                  <a:srgbClr val="0F2B46"/>
                </a:solidFill>
                <a:latin typeface="Calibri" pitchFamily="34" charset="0"/>
                <a:ea typeface="Calibri" pitchFamily="34" charset="-122"/>
                <a:cs typeface="Calibri" pitchFamily="34" charset="-120"/>
              </a:rPr>
              <a:t>Cash Percentage</a:t>
            </a:r>
            <a:endParaRPr lang="en-US" sz="1600" dirty="0"/>
          </a:p>
        </p:txBody>
      </p:sp>
      <p:sp>
        <p:nvSpPr>
          <p:cNvPr id="19" name="Text 14"/>
          <p:cNvSpPr/>
          <p:nvPr/>
        </p:nvSpPr>
        <p:spPr>
          <a:xfrm>
            <a:off x="1554480" y="4023360"/>
            <a:ext cx="3200400" cy="502920"/>
          </a:xfrm>
          <a:prstGeom prst="rect">
            <a:avLst/>
          </a:prstGeom>
          <a:noFill/>
          <a:ln/>
        </p:spPr>
        <p:txBody>
          <a:bodyPr wrap="square" lIns="0" tIns="0" rIns="0" bIns="0" rtlCol="0" anchor="ctr"/>
          <a:lstStyle/>
          <a:p>
            <a:pPr marL="0" indent="0">
              <a:lnSpc>
                <a:spcPct val="115000"/>
              </a:lnSpc>
              <a:buNone/>
            </a:pPr>
            <a:r>
              <a:rPr lang="en-US" sz="1200" dirty="0">
                <a:solidFill>
                  <a:srgbClr val="64748B"/>
                </a:solidFill>
                <a:latin typeface="Calibri" pitchFamily="34" charset="0"/>
                <a:ea typeface="Calibri" pitchFamily="34" charset="-122"/>
                <a:cs typeface="Calibri" pitchFamily="34" charset="-120"/>
              </a:rPr>
              <a:t>Portion kept as cash reserve.</a:t>
            </a:r>
            <a:endParaRPr lang="en-US" sz="1200" dirty="0"/>
          </a:p>
          <a:p>
            <a:pPr marL="0" indent="0">
              <a:lnSpc>
                <a:spcPct val="115000"/>
              </a:lnSpc>
              <a:buNone/>
            </a:pPr>
            <a:r>
              <a:rPr lang="en-US" sz="1200" dirty="0">
                <a:solidFill>
                  <a:srgbClr val="64748B"/>
                </a:solidFill>
                <a:latin typeface="Calibri" pitchFamily="34" charset="0"/>
                <a:ea typeface="Calibri" pitchFamily="34" charset="-122"/>
                <a:cs typeface="Calibri" pitchFamily="34" charset="-120"/>
              </a:rPr>
              <a:t>Example: 2%</a:t>
            </a:r>
            <a:endParaRPr lang="en-US" sz="1200" dirty="0"/>
          </a:p>
        </p:txBody>
      </p:sp>
      <p:sp>
        <p:nvSpPr>
          <p:cNvPr id="20" name="Text 15"/>
          <p:cNvSpPr/>
          <p:nvPr/>
        </p:nvSpPr>
        <p:spPr>
          <a:xfrm>
            <a:off x="5029200" y="3794760"/>
            <a:ext cx="3383280" cy="502920"/>
          </a:xfrm>
          <a:prstGeom prst="rect">
            <a:avLst/>
          </a:prstGeom>
          <a:noFill/>
          <a:ln/>
        </p:spPr>
        <p:txBody>
          <a:bodyPr wrap="square" rtlCol="0" anchor="ctr"/>
          <a:lstStyle/>
          <a:p>
            <a:pPr marL="0" indent="0" algn="ctr">
              <a:buNone/>
            </a:pPr>
            <a:r>
              <a:rPr lang="en-US" sz="1200" i="1" dirty="0">
                <a:solidFill>
                  <a:srgbClr val="0D9488"/>
                </a:solidFill>
                <a:latin typeface="Calibri" pitchFamily="34" charset="0"/>
                <a:ea typeface="Calibri" pitchFamily="34" charset="-122"/>
                <a:cs typeface="Calibri" pitchFamily="34" charset="-120"/>
              </a:rPr>
              <a:t>Equity target = 300,000 × 98% = PKR 294,000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How the Math Works</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marL="0" indent="0">
              <a:buNone/>
            </a:pPr>
            <a:r>
              <a:rPr lang="en-US" sz="1400" b="1" dirty="0">
                <a:solidFill>
                  <a:srgbClr val="1A6DAA"/>
                </a:solidFill>
                <a:latin typeface="Calibri" pitchFamily="34" charset="0"/>
                <a:ea typeface="Calibri" pitchFamily="34" charset="-122"/>
                <a:cs typeface="Calibri" pitchFamily="34" charset="-120"/>
              </a:rPr>
              <a:t>Worked Example: UBL  (weight = 6.81%, price = PKR 382.80)</a:t>
            </a:r>
            <a:endParaRPr lang="en-US" sz="1400" dirty="0"/>
          </a:p>
        </p:txBody>
      </p:sp>
      <p:sp>
        <p:nvSpPr>
          <p:cNvPr id="4" name="Shape 2"/>
          <p:cNvSpPr/>
          <p:nvPr/>
        </p:nvSpPr>
        <p:spPr>
          <a:xfrm>
            <a:off x="457200" y="1554480"/>
            <a:ext cx="8229600" cy="502920"/>
          </a:xfrm>
          <a:prstGeom prst="roundRect">
            <a:avLst>
              <a:gd name="adj" fmla="val 10909"/>
            </a:avLst>
          </a:prstGeom>
          <a:solidFill>
            <a:srgbClr val="EFF6FF"/>
          </a:solidFill>
          <a:ln/>
        </p:spPr>
      </p:sp>
      <p:sp>
        <p:nvSpPr>
          <p:cNvPr id="5" name="Text 3"/>
          <p:cNvSpPr/>
          <p:nvPr/>
        </p:nvSpPr>
        <p:spPr>
          <a:xfrm>
            <a:off x="640080" y="1554480"/>
            <a:ext cx="2286000" cy="502920"/>
          </a:xfrm>
          <a:prstGeom prst="rect">
            <a:avLst/>
          </a:prstGeom>
          <a:noFill/>
          <a:ln/>
        </p:spPr>
        <p:txBody>
          <a:bodyPr wrap="square" lIns="0" tIns="0" rIns="0" bIns="0" rtlCol="0" anchor="ctr"/>
          <a:lstStyle/>
          <a:p>
            <a:pPr marL="0" indent="0">
              <a:buNone/>
            </a:pPr>
            <a:r>
              <a:rPr lang="en-US" sz="1300" b="1" dirty="0">
                <a:solidFill>
                  <a:srgbClr val="0F2B46"/>
                </a:solidFill>
                <a:latin typeface="Calibri" pitchFamily="34" charset="0"/>
                <a:ea typeface="Calibri" pitchFamily="34" charset="-122"/>
                <a:cs typeface="Calibri" pitchFamily="34" charset="-120"/>
              </a:rPr>
              <a:t>Equity Target</a:t>
            </a:r>
            <a:endParaRPr lang="en-US" sz="1300" dirty="0"/>
          </a:p>
        </p:txBody>
      </p:sp>
      <p:sp>
        <p:nvSpPr>
          <p:cNvPr id="6" name="Text 4"/>
          <p:cNvSpPr/>
          <p:nvPr/>
        </p:nvSpPr>
        <p:spPr>
          <a:xfrm>
            <a:off x="2926080" y="1554480"/>
            <a:ext cx="320040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300,000 × (100 − 2) / 100</a:t>
            </a:r>
            <a:endParaRPr lang="en-US" sz="1300" dirty="0"/>
          </a:p>
        </p:txBody>
      </p:sp>
      <p:sp>
        <p:nvSpPr>
          <p:cNvPr id="7" name="Text 5"/>
          <p:cNvSpPr/>
          <p:nvPr/>
        </p:nvSpPr>
        <p:spPr>
          <a:xfrm>
            <a:off x="6400800" y="1554480"/>
            <a:ext cx="2103120" cy="5029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 PKR 294,000</a:t>
            </a:r>
            <a:endParaRPr lang="en-US" sz="1300" dirty="0"/>
          </a:p>
        </p:txBody>
      </p:sp>
      <p:sp>
        <p:nvSpPr>
          <p:cNvPr id="8" name="Shape 6"/>
          <p:cNvSpPr/>
          <p:nvPr/>
        </p:nvSpPr>
        <p:spPr>
          <a:xfrm>
            <a:off x="457200" y="2148840"/>
            <a:ext cx="8229600" cy="502920"/>
          </a:xfrm>
          <a:prstGeom prst="roundRect">
            <a:avLst>
              <a:gd name="adj" fmla="val 10909"/>
            </a:avLst>
          </a:prstGeom>
          <a:solidFill>
            <a:srgbClr val="FFFFFF"/>
          </a:solidFill>
          <a:ln/>
        </p:spPr>
      </p:sp>
      <p:sp>
        <p:nvSpPr>
          <p:cNvPr id="9" name="Text 7"/>
          <p:cNvSpPr/>
          <p:nvPr/>
        </p:nvSpPr>
        <p:spPr>
          <a:xfrm>
            <a:off x="640080" y="2148840"/>
            <a:ext cx="2286000" cy="502920"/>
          </a:xfrm>
          <a:prstGeom prst="rect">
            <a:avLst/>
          </a:prstGeom>
          <a:noFill/>
          <a:ln/>
        </p:spPr>
        <p:txBody>
          <a:bodyPr wrap="square" lIns="0" tIns="0" rIns="0" bIns="0" rtlCol="0" anchor="ctr"/>
          <a:lstStyle/>
          <a:p>
            <a:pPr marL="0" indent="0">
              <a:buNone/>
            </a:pPr>
            <a:r>
              <a:rPr lang="en-US" sz="1300" b="1" dirty="0">
                <a:solidFill>
                  <a:srgbClr val="0F2B46"/>
                </a:solidFill>
                <a:latin typeface="Calibri" pitchFamily="34" charset="0"/>
                <a:ea typeface="Calibri" pitchFamily="34" charset="-122"/>
                <a:cs typeface="Calibri" pitchFamily="34" charset="-120"/>
              </a:rPr>
              <a:t>UBL’s Target Value</a:t>
            </a:r>
            <a:endParaRPr lang="en-US" sz="1300" dirty="0"/>
          </a:p>
        </p:txBody>
      </p:sp>
      <p:sp>
        <p:nvSpPr>
          <p:cNvPr id="10" name="Text 8"/>
          <p:cNvSpPr/>
          <p:nvPr/>
        </p:nvSpPr>
        <p:spPr>
          <a:xfrm>
            <a:off x="2926080" y="2148840"/>
            <a:ext cx="320040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6.81% × 294,000</a:t>
            </a:r>
          </a:p>
        </p:txBody>
      </p:sp>
      <p:sp>
        <p:nvSpPr>
          <p:cNvPr id="11" name="Text 9"/>
          <p:cNvSpPr/>
          <p:nvPr/>
        </p:nvSpPr>
        <p:spPr>
          <a:xfrm>
            <a:off x="6400800" y="2148840"/>
            <a:ext cx="2103120" cy="5029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 PKR 20,021.40</a:t>
            </a:r>
            <a:endParaRPr lang="en-US" sz="1300" dirty="0"/>
          </a:p>
        </p:txBody>
      </p:sp>
      <p:sp>
        <p:nvSpPr>
          <p:cNvPr id="12" name="Shape 10"/>
          <p:cNvSpPr/>
          <p:nvPr/>
        </p:nvSpPr>
        <p:spPr>
          <a:xfrm>
            <a:off x="457200" y="2743200"/>
            <a:ext cx="8229600" cy="502920"/>
          </a:xfrm>
          <a:prstGeom prst="roundRect">
            <a:avLst>
              <a:gd name="adj" fmla="val 10909"/>
            </a:avLst>
          </a:prstGeom>
          <a:solidFill>
            <a:srgbClr val="EFF6FF"/>
          </a:solidFill>
          <a:ln/>
        </p:spPr>
      </p:sp>
      <p:sp>
        <p:nvSpPr>
          <p:cNvPr id="13" name="Text 11"/>
          <p:cNvSpPr/>
          <p:nvPr/>
        </p:nvSpPr>
        <p:spPr>
          <a:xfrm>
            <a:off x="640080" y="2743200"/>
            <a:ext cx="2286000" cy="502920"/>
          </a:xfrm>
          <a:prstGeom prst="rect">
            <a:avLst/>
          </a:prstGeom>
          <a:noFill/>
          <a:ln/>
        </p:spPr>
        <p:txBody>
          <a:bodyPr wrap="square" lIns="0" tIns="0" rIns="0" bIns="0" rtlCol="0" anchor="ctr"/>
          <a:lstStyle/>
          <a:p>
            <a:pPr marL="0" indent="0">
              <a:buNone/>
            </a:pPr>
            <a:r>
              <a:rPr lang="en-US" sz="1300" b="1" dirty="0">
                <a:solidFill>
                  <a:srgbClr val="0F2B46"/>
                </a:solidFill>
                <a:latin typeface="Calibri" pitchFamily="34" charset="0"/>
                <a:ea typeface="Calibri" pitchFamily="34" charset="-122"/>
                <a:cs typeface="Calibri" pitchFamily="34" charset="-120"/>
              </a:rPr>
              <a:t>Exact Shares</a:t>
            </a:r>
            <a:endParaRPr lang="en-US" sz="1300" dirty="0"/>
          </a:p>
        </p:txBody>
      </p:sp>
      <p:sp>
        <p:nvSpPr>
          <p:cNvPr id="14" name="Text 12"/>
          <p:cNvSpPr/>
          <p:nvPr/>
        </p:nvSpPr>
        <p:spPr>
          <a:xfrm>
            <a:off x="2926080" y="2743200"/>
            <a:ext cx="320040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20,021.40 ÷ 382.80</a:t>
            </a:r>
            <a:endParaRPr lang="en-US" sz="1300" dirty="0"/>
          </a:p>
        </p:txBody>
      </p:sp>
      <p:sp>
        <p:nvSpPr>
          <p:cNvPr id="15" name="Text 13"/>
          <p:cNvSpPr/>
          <p:nvPr/>
        </p:nvSpPr>
        <p:spPr>
          <a:xfrm>
            <a:off x="6400800" y="2743200"/>
            <a:ext cx="2103120" cy="5029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 52.30 shares</a:t>
            </a:r>
            <a:endParaRPr lang="en-US" sz="1300" dirty="0"/>
          </a:p>
        </p:txBody>
      </p:sp>
      <p:sp>
        <p:nvSpPr>
          <p:cNvPr id="16" name="Shape 14"/>
          <p:cNvSpPr/>
          <p:nvPr/>
        </p:nvSpPr>
        <p:spPr>
          <a:xfrm>
            <a:off x="457200" y="3337560"/>
            <a:ext cx="8229600" cy="502920"/>
          </a:xfrm>
          <a:prstGeom prst="roundRect">
            <a:avLst>
              <a:gd name="adj" fmla="val 10909"/>
            </a:avLst>
          </a:prstGeom>
          <a:solidFill>
            <a:srgbClr val="FFFFFF"/>
          </a:solidFill>
          <a:ln/>
        </p:spPr>
      </p:sp>
      <p:sp>
        <p:nvSpPr>
          <p:cNvPr id="17" name="Text 15"/>
          <p:cNvSpPr/>
          <p:nvPr/>
        </p:nvSpPr>
        <p:spPr>
          <a:xfrm>
            <a:off x="640080" y="3337560"/>
            <a:ext cx="2286000" cy="502920"/>
          </a:xfrm>
          <a:prstGeom prst="rect">
            <a:avLst/>
          </a:prstGeom>
          <a:noFill/>
          <a:ln/>
        </p:spPr>
        <p:txBody>
          <a:bodyPr wrap="square" lIns="0" tIns="0" rIns="0" bIns="0" rtlCol="0" anchor="ctr"/>
          <a:lstStyle/>
          <a:p>
            <a:pPr marL="0" indent="0">
              <a:buNone/>
            </a:pPr>
            <a:r>
              <a:rPr lang="en-US" sz="1300" b="1" dirty="0">
                <a:solidFill>
                  <a:srgbClr val="0F2B46"/>
                </a:solidFill>
                <a:latin typeface="Calibri" pitchFamily="34" charset="0"/>
                <a:ea typeface="Calibri" pitchFamily="34" charset="-122"/>
                <a:cs typeface="Calibri" pitchFamily="34" charset="-120"/>
              </a:rPr>
              <a:t>Basket Shares</a:t>
            </a:r>
            <a:endParaRPr lang="en-US" sz="1300" dirty="0"/>
          </a:p>
        </p:txBody>
      </p:sp>
      <p:sp>
        <p:nvSpPr>
          <p:cNvPr id="18" name="Text 16"/>
          <p:cNvSpPr/>
          <p:nvPr/>
        </p:nvSpPr>
        <p:spPr>
          <a:xfrm>
            <a:off x="2926080" y="3337560"/>
            <a:ext cx="320040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Round to nearest whole</a:t>
            </a:r>
            <a:endParaRPr lang="en-US" sz="1300" dirty="0"/>
          </a:p>
        </p:txBody>
      </p:sp>
      <p:sp>
        <p:nvSpPr>
          <p:cNvPr id="19" name="Text 17"/>
          <p:cNvSpPr/>
          <p:nvPr/>
        </p:nvSpPr>
        <p:spPr>
          <a:xfrm>
            <a:off x="6400800" y="3337560"/>
            <a:ext cx="2103120" cy="5029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 52 shares</a:t>
            </a:r>
            <a:endParaRPr lang="en-US" sz="1300" dirty="0"/>
          </a:p>
        </p:txBody>
      </p:sp>
      <p:sp>
        <p:nvSpPr>
          <p:cNvPr id="20" name="Shape 18"/>
          <p:cNvSpPr/>
          <p:nvPr/>
        </p:nvSpPr>
        <p:spPr>
          <a:xfrm>
            <a:off x="457200" y="3931920"/>
            <a:ext cx="8229600" cy="502920"/>
          </a:xfrm>
          <a:prstGeom prst="roundRect">
            <a:avLst>
              <a:gd name="adj" fmla="val 10909"/>
            </a:avLst>
          </a:prstGeom>
          <a:solidFill>
            <a:srgbClr val="EFF6FF"/>
          </a:solidFill>
          <a:ln/>
        </p:spPr>
      </p:sp>
      <p:sp>
        <p:nvSpPr>
          <p:cNvPr id="21" name="Text 19"/>
          <p:cNvSpPr/>
          <p:nvPr/>
        </p:nvSpPr>
        <p:spPr>
          <a:xfrm>
            <a:off x="640080" y="3931920"/>
            <a:ext cx="2286000" cy="502920"/>
          </a:xfrm>
          <a:prstGeom prst="rect">
            <a:avLst/>
          </a:prstGeom>
          <a:noFill/>
          <a:ln/>
        </p:spPr>
        <p:txBody>
          <a:bodyPr wrap="square" lIns="0" tIns="0" rIns="0" bIns="0" rtlCol="0" anchor="ctr"/>
          <a:lstStyle/>
          <a:p>
            <a:pPr marL="0" indent="0">
              <a:buNone/>
            </a:pPr>
            <a:r>
              <a:rPr lang="en-US" sz="1300" b="1" dirty="0">
                <a:solidFill>
                  <a:srgbClr val="0F2B46"/>
                </a:solidFill>
                <a:latin typeface="Calibri" pitchFamily="34" charset="0"/>
                <a:ea typeface="Calibri" pitchFamily="34" charset="-122"/>
                <a:cs typeface="Calibri" pitchFamily="34" charset="-120"/>
              </a:rPr>
              <a:t>Share Value</a:t>
            </a:r>
            <a:endParaRPr lang="en-US" sz="1300" dirty="0"/>
          </a:p>
        </p:txBody>
      </p:sp>
      <p:sp>
        <p:nvSpPr>
          <p:cNvPr id="22" name="Text 20"/>
          <p:cNvSpPr/>
          <p:nvPr/>
        </p:nvSpPr>
        <p:spPr>
          <a:xfrm>
            <a:off x="2926080" y="3931920"/>
            <a:ext cx="320040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52 × 382.80</a:t>
            </a:r>
            <a:endParaRPr lang="en-US" sz="1300" dirty="0"/>
          </a:p>
        </p:txBody>
      </p:sp>
      <p:sp>
        <p:nvSpPr>
          <p:cNvPr id="23" name="Text 21"/>
          <p:cNvSpPr/>
          <p:nvPr/>
        </p:nvSpPr>
        <p:spPr>
          <a:xfrm>
            <a:off x="6400800" y="3931920"/>
            <a:ext cx="2103120" cy="5029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 PKR 19,905.60</a:t>
            </a:r>
            <a:endParaRPr lang="en-US" sz="1300" dirty="0"/>
          </a:p>
        </p:txBody>
      </p:sp>
      <p:sp>
        <p:nvSpPr>
          <p:cNvPr id="24" name="Text 22"/>
          <p:cNvSpPr/>
          <p:nvPr/>
        </p:nvSpPr>
        <p:spPr>
          <a:xfrm>
            <a:off x="457200" y="4572000"/>
            <a:ext cx="8229600" cy="320040"/>
          </a:xfrm>
          <a:prstGeom prst="rect">
            <a:avLst/>
          </a:prstGeom>
          <a:noFill/>
          <a:ln/>
        </p:spPr>
        <p:txBody>
          <a:bodyPr wrap="square"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This calculation is repeated for all 100 companies automatically.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The Rounding Challenge</a:t>
            </a:r>
            <a:endParaRPr lang="en-US" sz="3200" dirty="0"/>
          </a:p>
        </p:txBody>
      </p:sp>
      <p:sp>
        <p:nvSpPr>
          <p:cNvPr id="3" name="Shape 1"/>
          <p:cNvSpPr/>
          <p:nvPr/>
        </p:nvSpPr>
        <p:spPr>
          <a:xfrm>
            <a:off x="457200" y="1097280"/>
            <a:ext cx="3840480" cy="3200400"/>
          </a:xfrm>
          <a:prstGeom prst="roundRect">
            <a:avLst>
              <a:gd name="adj" fmla="val 3429"/>
            </a:avLst>
          </a:prstGeom>
          <a:solidFill>
            <a:srgbClr val="FEF2F2"/>
          </a:solidFill>
          <a:ln/>
          <a:effectLst>
            <a:outerShdw blurRad="76200" dist="25400" dir="2700000" algn="bl" rotWithShape="0">
              <a:srgbClr val="000000">
                <a:alpha val="12000"/>
              </a:srgbClr>
            </a:outerShdw>
          </a:effectLst>
        </p:spPr>
      </p:sp>
      <p:sp>
        <p:nvSpPr>
          <p:cNvPr id="4" name="Text 2"/>
          <p:cNvSpPr/>
          <p:nvPr/>
        </p:nvSpPr>
        <p:spPr>
          <a:xfrm>
            <a:off x="457200" y="1234440"/>
            <a:ext cx="3840480" cy="365760"/>
          </a:xfrm>
          <a:prstGeom prst="rect">
            <a:avLst/>
          </a:prstGeom>
          <a:noFill/>
          <a:ln/>
        </p:spPr>
        <p:txBody>
          <a:bodyPr wrap="square" rtlCol="0" anchor="ctr"/>
          <a:lstStyle/>
          <a:p>
            <a:pPr marL="0" indent="0" algn="ctr">
              <a:buNone/>
            </a:pPr>
            <a:r>
              <a:rPr lang="en-US" sz="1700" b="1" dirty="0">
                <a:solidFill>
                  <a:srgbClr val="DC2626"/>
                </a:solidFill>
                <a:latin typeface="Calibri" pitchFamily="34" charset="0"/>
                <a:ea typeface="Calibri" pitchFamily="34" charset="-122"/>
                <a:cs typeface="Calibri" pitchFamily="34" charset="-120"/>
              </a:rPr>
              <a:t>The Problem</a:t>
            </a:r>
            <a:endParaRPr lang="en-US" sz="1700" dirty="0"/>
          </a:p>
        </p:txBody>
      </p:sp>
      <p:sp>
        <p:nvSpPr>
          <p:cNvPr id="5" name="Text 3"/>
          <p:cNvSpPr/>
          <p:nvPr/>
        </p:nvSpPr>
        <p:spPr>
          <a:xfrm>
            <a:off x="731520" y="1691640"/>
            <a:ext cx="3291840" cy="2377440"/>
          </a:xfrm>
          <a:prstGeom prst="rect">
            <a:avLst/>
          </a:prstGeom>
          <a:noFill/>
          <a:ln/>
        </p:spPr>
        <p:txBody>
          <a:bodyPr wrap="square" rtlCol="0" anchor="ctr"/>
          <a:lstStyle/>
          <a:p>
            <a:pPr marL="0" indent="0">
              <a:lnSpc>
                <a:spcPct val="130000"/>
              </a:lnSpc>
              <a:buNone/>
            </a:pPr>
            <a:r>
              <a:rPr lang="en-US" sz="1300" dirty="0">
                <a:solidFill>
                  <a:srgbClr val="1E293B"/>
                </a:solidFill>
                <a:latin typeface="Calibri" pitchFamily="34" charset="0"/>
                <a:ea typeface="Calibri" pitchFamily="34" charset="-122"/>
                <a:cs typeface="Calibri" pitchFamily="34" charset="-120"/>
              </a:rPr>
              <a:t>You can’t buy half a share! Every company must be rounded to a whole number.</a:t>
            </a:r>
            <a:endParaRPr lang="en-US" sz="1300" dirty="0"/>
          </a:p>
          <a:p>
            <a:pPr marL="0" indent="0">
              <a:lnSpc>
                <a:spcPct val="130000"/>
              </a:lnSpc>
              <a:buNone/>
            </a:pPr>
            <a:endParaRPr lang="en-US" sz="1300" dirty="0"/>
          </a:p>
          <a:p>
            <a:pPr marL="0" indent="0">
              <a:lnSpc>
                <a:spcPct val="130000"/>
              </a:lnSpc>
              <a:buNone/>
            </a:pPr>
            <a:r>
              <a:rPr lang="en-US" sz="1300" dirty="0">
                <a:solidFill>
                  <a:srgbClr val="1E293B"/>
                </a:solidFill>
                <a:latin typeface="Calibri" pitchFamily="34" charset="0"/>
                <a:ea typeface="Calibri" pitchFamily="34" charset="-122"/>
                <a:cs typeface="Calibri" pitchFamily="34" charset="-120"/>
              </a:rPr>
              <a:t>When many companies round UP, the total share value can exceed the basket size.</a:t>
            </a:r>
            <a:endParaRPr lang="en-US" sz="1300" dirty="0"/>
          </a:p>
          <a:p>
            <a:pPr marL="0" indent="0">
              <a:lnSpc>
                <a:spcPct val="130000"/>
              </a:lnSpc>
              <a:buNone/>
            </a:pPr>
            <a:endParaRPr lang="en-US" sz="1300" dirty="0"/>
          </a:p>
          <a:p>
            <a:pPr marL="0" indent="0">
              <a:lnSpc>
                <a:spcPct val="130000"/>
              </a:lnSpc>
              <a:buNone/>
            </a:pPr>
            <a:r>
              <a:rPr lang="en-US" sz="1400" b="1" dirty="0">
                <a:solidFill>
                  <a:srgbClr val="DC2626"/>
                </a:solidFill>
                <a:latin typeface="Calibri" pitchFamily="34" charset="0"/>
                <a:ea typeface="Calibri" pitchFamily="34" charset="-122"/>
                <a:cs typeface="Calibri" pitchFamily="34" charset="-120"/>
              </a:rPr>
              <a:t>This means: cash goes negative!</a:t>
            </a:r>
            <a:endParaRPr lang="en-US" sz="1300" dirty="0"/>
          </a:p>
        </p:txBody>
      </p:sp>
      <p:sp>
        <p:nvSpPr>
          <p:cNvPr id="6" name="Shape 4"/>
          <p:cNvSpPr/>
          <p:nvPr/>
        </p:nvSpPr>
        <p:spPr>
          <a:xfrm>
            <a:off x="4846320" y="1097280"/>
            <a:ext cx="3840480" cy="3200400"/>
          </a:xfrm>
          <a:prstGeom prst="roundRect">
            <a:avLst>
              <a:gd name="adj" fmla="val 3429"/>
            </a:avLst>
          </a:prstGeom>
          <a:solidFill>
            <a:srgbClr val="F0FDF4"/>
          </a:solidFill>
          <a:ln/>
          <a:effectLst>
            <a:outerShdw blurRad="76200" dist="25400" dir="2700000" algn="bl" rotWithShape="0">
              <a:srgbClr val="000000">
                <a:alpha val="12000"/>
              </a:srgbClr>
            </a:outerShdw>
          </a:effectLst>
        </p:spPr>
      </p:sp>
      <p:sp>
        <p:nvSpPr>
          <p:cNvPr id="7" name="Text 5"/>
          <p:cNvSpPr/>
          <p:nvPr/>
        </p:nvSpPr>
        <p:spPr>
          <a:xfrm>
            <a:off x="4846320" y="1234440"/>
            <a:ext cx="3840480" cy="365760"/>
          </a:xfrm>
          <a:prstGeom prst="rect">
            <a:avLst/>
          </a:prstGeom>
          <a:noFill/>
          <a:ln/>
        </p:spPr>
        <p:txBody>
          <a:bodyPr wrap="square" rtlCol="0" anchor="ctr"/>
          <a:lstStyle/>
          <a:p>
            <a:pPr marL="0" indent="0" algn="ctr">
              <a:buNone/>
            </a:pPr>
            <a:r>
              <a:rPr lang="en-US" sz="1700" b="1" dirty="0">
                <a:solidFill>
                  <a:srgbClr val="16A34A"/>
                </a:solidFill>
                <a:latin typeface="Calibri" pitchFamily="34" charset="0"/>
                <a:ea typeface="Calibri" pitchFamily="34" charset="-122"/>
                <a:cs typeface="Calibri" pitchFamily="34" charset="-120"/>
              </a:rPr>
              <a:t>The Repair</a:t>
            </a:r>
            <a:endParaRPr lang="en-US" sz="1700" dirty="0"/>
          </a:p>
        </p:txBody>
      </p:sp>
      <p:sp>
        <p:nvSpPr>
          <p:cNvPr id="8" name="Text 6"/>
          <p:cNvSpPr/>
          <p:nvPr/>
        </p:nvSpPr>
        <p:spPr>
          <a:xfrm>
            <a:off x="5120640" y="1691640"/>
            <a:ext cx="3291840" cy="2377440"/>
          </a:xfrm>
          <a:prstGeom prst="rect">
            <a:avLst/>
          </a:prstGeom>
          <a:noFill/>
          <a:ln/>
        </p:spPr>
        <p:txBody>
          <a:bodyPr wrap="square" rtlCol="0" anchor="ctr"/>
          <a:lstStyle/>
          <a:p>
            <a:pPr marL="0" indent="0">
              <a:lnSpc>
                <a:spcPct val="125000"/>
              </a:lnSpc>
              <a:buNone/>
            </a:pPr>
            <a:r>
              <a:rPr lang="en-US" sz="1300" b="1" dirty="0">
                <a:solidFill>
                  <a:srgbClr val="1E293B"/>
                </a:solidFill>
                <a:latin typeface="Calibri" pitchFamily="34" charset="0"/>
                <a:ea typeface="Calibri" pitchFamily="34" charset="-122"/>
                <a:cs typeface="Calibri" pitchFamily="34" charset="-120"/>
              </a:rPr>
              <a:t>The program automatically fixes this:</a:t>
            </a:r>
            <a:endParaRPr lang="en-US" sz="1300" dirty="0"/>
          </a:p>
          <a:p>
            <a:pPr marL="0" indent="0">
              <a:lnSpc>
                <a:spcPct val="125000"/>
              </a:lnSpc>
              <a:buNone/>
            </a:pPr>
            <a:endParaRPr lang="en-US" sz="1300" dirty="0"/>
          </a:p>
          <a:p>
            <a:pPr marL="0" indent="0">
              <a:lnSpc>
                <a:spcPct val="125000"/>
              </a:lnSpc>
              <a:buNone/>
            </a:pPr>
            <a:r>
              <a:rPr lang="en-US" sz="1300" dirty="0">
                <a:solidFill>
                  <a:srgbClr val="1E293B"/>
                </a:solidFill>
                <a:latin typeface="Calibri" pitchFamily="34" charset="0"/>
                <a:ea typeface="Calibri" pitchFamily="34" charset="-122"/>
                <a:cs typeface="Calibri" pitchFamily="34" charset="-120"/>
              </a:rPr>
              <a:t>1. Find which company’s rounding overshot its target value the most (in PKR).</a:t>
            </a:r>
            <a:endParaRPr lang="en-US" sz="1300" dirty="0"/>
          </a:p>
          <a:p>
            <a:pPr marL="0" indent="0">
              <a:lnSpc>
                <a:spcPct val="125000"/>
              </a:lnSpc>
              <a:buNone/>
            </a:pPr>
            <a:endParaRPr lang="en-US" sz="1300" dirty="0"/>
          </a:p>
          <a:p>
            <a:pPr marL="0" indent="0">
              <a:lnSpc>
                <a:spcPct val="125000"/>
              </a:lnSpc>
              <a:buNone/>
            </a:pPr>
            <a:r>
              <a:rPr lang="en-US" sz="1300" dirty="0">
                <a:solidFill>
                  <a:srgbClr val="1E293B"/>
                </a:solidFill>
                <a:latin typeface="Calibri" pitchFamily="34" charset="0"/>
                <a:ea typeface="Calibri" pitchFamily="34" charset="-122"/>
                <a:cs typeface="Calibri" pitchFamily="34" charset="-120"/>
              </a:rPr>
              <a:t>2. Remove ONE share from that company.</a:t>
            </a:r>
            <a:endParaRPr lang="en-US" sz="1300" dirty="0"/>
          </a:p>
          <a:p>
            <a:pPr marL="0" indent="0">
              <a:lnSpc>
                <a:spcPct val="125000"/>
              </a:lnSpc>
              <a:buNone/>
            </a:pPr>
            <a:endParaRPr lang="en-US" sz="1300" dirty="0"/>
          </a:p>
          <a:p>
            <a:pPr marL="0" indent="0">
              <a:lnSpc>
                <a:spcPct val="125000"/>
              </a:lnSpc>
              <a:buNone/>
            </a:pPr>
            <a:r>
              <a:rPr lang="en-US" sz="1300" dirty="0">
                <a:solidFill>
                  <a:srgbClr val="1E293B"/>
                </a:solidFill>
                <a:latin typeface="Calibri" pitchFamily="34" charset="0"/>
                <a:ea typeface="Calibri" pitchFamily="34" charset="-122"/>
                <a:cs typeface="Calibri" pitchFamily="34" charset="-120"/>
              </a:rPr>
              <a:t>3. Repeat until cash ≥ 0.</a:t>
            </a:r>
            <a:endParaRPr lang="en-US" sz="1300" dirty="0"/>
          </a:p>
          <a:p>
            <a:pPr marL="0" indent="0">
              <a:lnSpc>
                <a:spcPct val="125000"/>
              </a:lnSpc>
              <a:buNone/>
            </a:pPr>
            <a:endParaRPr lang="en-US" sz="1300" dirty="0"/>
          </a:p>
          <a:p>
            <a:pPr marL="0" indent="0">
              <a:lnSpc>
                <a:spcPct val="125000"/>
              </a:lnSpc>
              <a:buNone/>
            </a:pPr>
            <a:r>
              <a:rPr lang="en-US" sz="1200" i="1" dirty="0">
                <a:solidFill>
                  <a:srgbClr val="0D9488"/>
                </a:solidFill>
                <a:latin typeface="Calibri" pitchFamily="34" charset="0"/>
                <a:ea typeface="Calibri" pitchFamily="34" charset="-122"/>
                <a:cs typeface="Calibri" pitchFamily="34" charset="-120"/>
              </a:rPr>
              <a:t>This frees the most cash per trim with the least weight distortion.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Sample Output: Basket Summary</a:t>
            </a:r>
            <a:endParaRPr lang="en-US" sz="3200" dirty="0"/>
          </a:p>
        </p:txBody>
      </p:sp>
      <p:sp>
        <p:nvSpPr>
          <p:cNvPr id="3" name="Text 1"/>
          <p:cNvSpPr/>
          <p:nvPr/>
        </p:nvSpPr>
        <p:spPr>
          <a:xfrm>
            <a:off x="457200" y="868680"/>
            <a:ext cx="8229600" cy="274320"/>
          </a:xfrm>
          <a:prstGeom prst="rect">
            <a:avLst/>
          </a:prstGeom>
          <a:noFill/>
          <a:ln/>
        </p:spPr>
        <p:txBody>
          <a:bodyPr wrap="square" rtlCol="0" anchor="ctr"/>
          <a:lstStyle/>
          <a:p>
            <a:pPr marL="0" indent="0">
              <a:buNone/>
            </a:pPr>
            <a:r>
              <a:rPr lang="en-US" sz="1200" i="1" dirty="0">
                <a:solidFill>
                  <a:srgbClr val="0D9488"/>
                </a:solidFill>
                <a:latin typeface="Courier New" pitchFamily="34" charset="0"/>
                <a:ea typeface="Courier New" pitchFamily="34" charset="-122"/>
                <a:cs typeface="Courier New" pitchFamily="34" charset="-120"/>
              </a:rPr>
              <a:t>20251008_kse100_summary_50000000.csv</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2016398193"/>
              </p:ext>
            </p:extLst>
          </p:nvPr>
        </p:nvGraphicFramePr>
        <p:xfrm>
          <a:off x="1371600" y="1371600"/>
          <a:ext cx="6400800" cy="3145536"/>
        </p:xfrm>
        <a:graphic>
          <a:graphicData uri="http://schemas.openxmlformats.org/drawingml/2006/table">
            <a:tbl>
              <a:tblPr/>
              <a:tblGrid>
                <a:gridCol w="3657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Basket size (PKR)</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r">
                        <a:buNone/>
                      </a:pPr>
                      <a:r>
                        <a:rPr lang="en-US" sz="1200" b="1" dirty="0">
                          <a:solidFill>
                            <a:srgbClr val="1E293B"/>
                          </a:solidFill>
                          <a:latin typeface="Calibri" pitchFamily="34" charset="0"/>
                          <a:ea typeface="Calibri" pitchFamily="34" charset="-122"/>
                          <a:cs typeface="Calibri" pitchFamily="34" charset="-120"/>
                        </a:rPr>
                        <a:t>300,000.00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Intended cash %</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E293B"/>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Equity target (PKR)</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r">
                        <a:buNone/>
                      </a:pPr>
                      <a:r>
                        <a:rPr lang="en-US" sz="1200" b="1" dirty="0">
                          <a:solidFill>
                            <a:srgbClr val="1E293B"/>
                          </a:solidFill>
                          <a:latin typeface="Calibri" pitchFamily="34" charset="0"/>
                          <a:ea typeface="Calibri" pitchFamily="34" charset="-122"/>
                          <a:cs typeface="Calibri" pitchFamily="34" charset="-120"/>
                        </a:rPr>
                        <a:t>294,000.00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Equity actual (PKR)</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E293B"/>
                          </a:solidFill>
                          <a:latin typeface="Calibri" pitchFamily="34" charset="0"/>
                          <a:ea typeface="Calibri" pitchFamily="34" charset="-122"/>
                          <a:cs typeface="Calibri" pitchFamily="34" charset="-120"/>
                        </a:rPr>
                        <a:t>291,398.84</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Cash actual (PKR)</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r">
                        <a:buNone/>
                      </a:pPr>
                      <a:r>
                        <a:rPr lang="en-US" sz="1200" b="1" dirty="0">
                          <a:solidFill>
                            <a:srgbClr val="1E293B"/>
                          </a:solidFill>
                          <a:latin typeface="Calibri" pitchFamily="34" charset="0"/>
                          <a:ea typeface="Calibri" pitchFamily="34" charset="-122"/>
                          <a:cs typeface="Calibri" pitchFamily="34" charset="-120"/>
                        </a:rPr>
                        <a:t>8,601.16</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Cash actual %</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E293B"/>
                          </a:solidFill>
                          <a:latin typeface="Calibri" pitchFamily="34" charset="0"/>
                          <a:ea typeface="Calibri" pitchFamily="34" charset="-122"/>
                          <a:cs typeface="Calibri" pitchFamily="34" charset="-120"/>
                        </a:rPr>
                        <a:t>2.87</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Repair trims performed</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r">
                        <a:buNone/>
                      </a:pPr>
                      <a:r>
                        <a:rPr lang="en-US" sz="1200" b="1" dirty="0">
                          <a:solidFill>
                            <a:srgbClr val="1E293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7"/>
                  </a:ext>
                </a:extLst>
              </a:tr>
              <a:tr h="347472">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Companies with 0 shares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E293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Text 2"/>
          <p:cNvSpPr/>
          <p:nvPr/>
        </p:nvSpPr>
        <p:spPr>
          <a:xfrm>
            <a:off x="1371600" y="4572000"/>
            <a:ext cx="6400800" cy="36576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The repair algorithm trimmed 0 shares to keep cash positive. 5 small companies ended up with 0 shares (too small for the basket size).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F2B46"/>
                </a:solidFill>
                <a:latin typeface="Calibri" pitchFamily="34" charset="0"/>
                <a:ea typeface="Calibri" pitchFamily="34" charset="-122"/>
                <a:cs typeface="Calibri" pitchFamily="34" charset="-120"/>
              </a:rPr>
              <a:t>Sample Output: Full Basket Table (Top Companies)</a:t>
            </a:r>
            <a:endParaRPr lang="en-US" sz="2800" dirty="0"/>
          </a:p>
        </p:txBody>
      </p:sp>
      <p:sp>
        <p:nvSpPr>
          <p:cNvPr id="3" name="Text 1"/>
          <p:cNvSpPr/>
          <p:nvPr/>
        </p:nvSpPr>
        <p:spPr>
          <a:xfrm>
            <a:off x="457200" y="822960"/>
            <a:ext cx="8229600" cy="274320"/>
          </a:xfrm>
          <a:prstGeom prst="rect">
            <a:avLst/>
          </a:prstGeom>
          <a:noFill/>
          <a:ln/>
        </p:spPr>
        <p:txBody>
          <a:bodyPr wrap="square" rtlCol="0" anchor="ctr"/>
          <a:lstStyle/>
          <a:p>
            <a:pPr marL="0" indent="0">
              <a:buNone/>
            </a:pPr>
            <a:r>
              <a:rPr lang="en-US" sz="1200" i="1" dirty="0">
                <a:solidFill>
                  <a:srgbClr val="0D9488"/>
                </a:solidFill>
                <a:latin typeface="Courier New" pitchFamily="34" charset="0"/>
                <a:ea typeface="Courier New" pitchFamily="34" charset="-122"/>
                <a:cs typeface="Courier New" pitchFamily="34" charset="-120"/>
              </a:rPr>
              <a:t>20251008_kse100_basket_50000000.csv</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397154819"/>
              </p:ext>
            </p:extLst>
          </p:nvPr>
        </p:nvGraphicFramePr>
        <p:xfrm>
          <a:off x="274320" y="1188720"/>
          <a:ext cx="8046720" cy="2240280"/>
        </p:xfrm>
        <a:graphic>
          <a:graphicData uri="http://schemas.openxmlformats.org/drawingml/2006/table">
            <a:tbl>
              <a:tblPr/>
              <a:tblGrid>
                <a:gridCol w="914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tblGrid>
              <a:tr h="32004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SYMBOL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IDX WT %</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EXACT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BASKET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VALUE (PKR)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BSK WT%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WT DIFF</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DAA"/>
                    </a:solidFill>
                  </a:tcPr>
                </a:tc>
                <a:extLst>
                  <a:ext uri="{0D108BD9-81ED-4DB2-BD59-A6C34878D82A}">
                    <a16:rowId xmlns:a16="http://schemas.microsoft.com/office/drawing/2014/main" val="10000"/>
                  </a:ext>
                </a:extLst>
              </a:tr>
              <a:tr h="27432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UBL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382.8</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6.81</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52.28172943</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52</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19905.6</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6.83</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-0.02</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MCB</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367.08</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3.09</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24.74075759</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25</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9177</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3.15</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-0.06</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OGDC</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269.56</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3.53</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38.48203941</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38</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10243.28</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3.52</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0.01</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27432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HBL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316.52</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3.77</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34.99863022</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35</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11078.2</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3.8</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-0.03</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LUCK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443.95</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3.96</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26.21582249</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26</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11542.7</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3.96</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0</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27432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YOUW</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6.35</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0.01</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a:solidFill>
                            <a:srgbClr val="1E293B"/>
                          </a:solidFill>
                          <a:latin typeface="Calibri" pitchFamily="34" charset="0"/>
                          <a:ea typeface="Calibri" pitchFamily="34" charset="-122"/>
                          <a:cs typeface="Calibri" pitchFamily="34" charset="-120"/>
                        </a:rPr>
                        <a:t>4.867374551</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5</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31.75</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0.01</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900" kern="1200" dirty="0">
                          <a:solidFill>
                            <a:srgbClr val="1E293B"/>
                          </a:solidFill>
                          <a:latin typeface="Calibri" pitchFamily="34" charset="0"/>
                          <a:ea typeface="Calibri" pitchFamily="34" charset="-122"/>
                          <a:cs typeface="Calibri" pitchFamily="34" charset="-120"/>
                        </a:rPr>
                        <a:t>0</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7"/>
                  </a:ext>
                </a:extLst>
              </a:tr>
            </a:tbl>
          </a:graphicData>
        </a:graphic>
      </p:graphicFrame>
      <p:sp>
        <p:nvSpPr>
          <p:cNvPr id="5" name="Text 2"/>
          <p:cNvSpPr/>
          <p:nvPr/>
        </p:nvSpPr>
        <p:spPr>
          <a:xfrm>
            <a:off x="457200" y="3931920"/>
            <a:ext cx="8229600" cy="365760"/>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WT DIFF</a:t>
            </a:r>
            <a:r>
              <a:rPr lang="en-US" sz="1100" dirty="0">
                <a:solidFill>
                  <a:srgbClr val="64748B"/>
                </a:solidFill>
                <a:latin typeface="Calibri" pitchFamily="34" charset="0"/>
                <a:ea typeface="Calibri" pitchFamily="34" charset="-122"/>
                <a:cs typeface="Calibri" pitchFamily="34" charset="-120"/>
              </a:rPr>
              <a:t> = IDX WT% − BASKET WT%. Positive means the basket is slightly </a:t>
            </a:r>
            <a:r>
              <a:rPr lang="en-US" sz="1100" i="1" dirty="0">
                <a:solidFill>
                  <a:srgbClr val="64748B"/>
                </a:solidFill>
                <a:latin typeface="Calibri" pitchFamily="34" charset="0"/>
                <a:ea typeface="Calibri" pitchFamily="34" charset="-122"/>
                <a:cs typeface="Calibri" pitchFamily="34" charset="-120"/>
              </a:rPr>
              <a:t>underweight</a:t>
            </a:r>
            <a:r>
              <a:rPr lang="en-US" sz="1100" dirty="0">
                <a:solidFill>
                  <a:srgbClr val="64748B"/>
                </a:solidFill>
                <a:latin typeface="Calibri" pitchFamily="34" charset="0"/>
                <a:ea typeface="Calibri" pitchFamily="34" charset="-122"/>
                <a:cs typeface="Calibri" pitchFamily="34" charset="-120"/>
              </a:rPr>
              <a:t> that stock. Near-zero is ideal.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Sample Output: Dropped Companies</a:t>
            </a:r>
            <a:endParaRPr lang="en-US" sz="3200" dirty="0"/>
          </a:p>
        </p:txBody>
      </p:sp>
      <p:sp>
        <p:nvSpPr>
          <p:cNvPr id="3" name="Text 1"/>
          <p:cNvSpPr/>
          <p:nvPr/>
        </p:nvSpPr>
        <p:spPr>
          <a:xfrm>
            <a:off x="457200" y="868680"/>
            <a:ext cx="8229600" cy="274320"/>
          </a:xfrm>
          <a:prstGeom prst="rect">
            <a:avLst/>
          </a:prstGeom>
          <a:noFill/>
          <a:ln/>
        </p:spPr>
        <p:txBody>
          <a:bodyPr wrap="square" rtlCol="0" anchor="ctr"/>
          <a:lstStyle/>
          <a:p>
            <a:pPr marL="0" indent="0">
              <a:buNone/>
            </a:pPr>
            <a:r>
              <a:rPr lang="en-US" sz="1200" i="1" dirty="0">
                <a:solidFill>
                  <a:srgbClr val="0D9488"/>
                </a:solidFill>
                <a:latin typeface="Courier New" pitchFamily="34" charset="0"/>
                <a:ea typeface="Courier New" pitchFamily="34" charset="-122"/>
                <a:cs typeface="Courier New" pitchFamily="34" charset="-120"/>
              </a:rPr>
              <a:t>20251008_kse100_dropped_50000000.csv</a:t>
            </a:r>
            <a:endParaRPr lang="en-US" sz="1200" dirty="0"/>
          </a:p>
        </p:txBody>
      </p:sp>
      <p:sp>
        <p:nvSpPr>
          <p:cNvPr id="4" name="Text 2"/>
          <p:cNvSpPr/>
          <p:nvPr/>
        </p:nvSpPr>
        <p:spPr>
          <a:xfrm>
            <a:off x="457200" y="1188720"/>
            <a:ext cx="8229600" cy="32004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Companies whose exact share count rounds to 0 — they are too small or expensive for this basket size.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2009172751"/>
              </p:ext>
            </p:extLst>
          </p:nvPr>
        </p:nvGraphicFramePr>
        <p:xfrm>
          <a:off x="457200" y="1645920"/>
          <a:ext cx="8229600" cy="1325880"/>
        </p:xfrm>
        <a:graphic>
          <a:graphicData uri="http://schemas.openxmlformats.org/drawingml/2006/table">
            <a:tbl>
              <a:tblPr/>
              <a:tblGrid>
                <a:gridCol w="11887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6576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SYMBOL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COMPANY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IDX WT %</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EXACT SHARES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extLst>
                  <a:ext uri="{0D108BD9-81ED-4DB2-BD59-A6C34878D82A}">
                    <a16:rowId xmlns:a16="http://schemas.microsoft.com/office/drawing/2014/main" val="10000"/>
                  </a:ext>
                </a:extLst>
              </a:tr>
              <a:tr h="320040">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NESTLE</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Nestle Pakistan Limited</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1100" kern="1200">
                          <a:solidFill>
                            <a:srgbClr val="1E293B"/>
                          </a:solidFill>
                          <a:latin typeface="Calibri" pitchFamily="34" charset="0"/>
                          <a:ea typeface="Calibri" pitchFamily="34" charset="-122"/>
                          <a:cs typeface="Calibri" pitchFamily="34" charset="-120"/>
                        </a:rPr>
                        <a:t>8349.98</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0.384136864</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0.135253304</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320040">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UPFL</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Unilever Pakistan Foods Limited</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30000</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0.189772706</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0.018597725</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RMPL</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US" sz="1100" kern="1200" dirty="0" err="1">
                          <a:solidFill>
                            <a:srgbClr val="1E293B"/>
                          </a:solidFill>
                          <a:latin typeface="Calibri" pitchFamily="34" charset="0"/>
                          <a:ea typeface="Calibri" pitchFamily="34" charset="-122"/>
                          <a:cs typeface="Calibri" pitchFamily="34" charset="-120"/>
                        </a:rPr>
                        <a:t>Rafhan</a:t>
                      </a:r>
                      <a:r>
                        <a:rPr lang="en-US" sz="1100" kern="1200" dirty="0">
                          <a:solidFill>
                            <a:srgbClr val="1E293B"/>
                          </a:solidFill>
                          <a:latin typeface="Calibri" pitchFamily="34" charset="0"/>
                          <a:ea typeface="Calibri" pitchFamily="34" charset="-122"/>
                          <a:cs typeface="Calibri" pitchFamily="34" charset="-120"/>
                        </a:rPr>
                        <a:t> Maize Products Company Limited</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9724.82</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0.1822397</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defTabSz="914400" rtl="0" eaLnBrk="1" fontAlgn="b" latinLnBrk="0" hangingPunct="1">
                        <a:buNone/>
                      </a:pPr>
                      <a:r>
                        <a:rPr lang="en-AU" sz="1100" kern="1200" dirty="0">
                          <a:solidFill>
                            <a:srgbClr val="1E293B"/>
                          </a:solidFill>
                          <a:latin typeface="Calibri" pitchFamily="34" charset="0"/>
                          <a:ea typeface="Calibri" pitchFamily="34" charset="-122"/>
                          <a:cs typeface="Calibri" pitchFamily="34" charset="-120"/>
                        </a:rPr>
                        <a:t>0.055094564</a:t>
                      </a:r>
                    </a:p>
                  </a:txBody>
                  <a:tcPr marL="9525" marR="9525" marT="9525"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bl>
          </a:graphicData>
        </a:graphic>
      </p:graphicFrame>
      <p:sp>
        <p:nvSpPr>
          <p:cNvPr id="6" name="Shape 3"/>
          <p:cNvSpPr/>
          <p:nvPr/>
        </p:nvSpPr>
        <p:spPr>
          <a:xfrm>
            <a:off x="1371600" y="3200400"/>
            <a:ext cx="6400800" cy="1188720"/>
          </a:xfrm>
          <a:prstGeom prst="roundRect">
            <a:avLst>
              <a:gd name="adj" fmla="val 7692"/>
            </a:avLst>
          </a:prstGeom>
          <a:solidFill>
            <a:srgbClr val="FEF3C7"/>
          </a:solidFill>
          <a:ln/>
          <a:effectLst>
            <a:outerShdw blurRad="76200" dist="25400" dir="27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1645920" y="3383280"/>
            <a:ext cx="457200" cy="457200"/>
          </a:xfrm>
          <a:prstGeom prst="rect">
            <a:avLst/>
          </a:prstGeom>
        </p:spPr>
      </p:pic>
      <p:sp>
        <p:nvSpPr>
          <p:cNvPr id="8" name="Text 4"/>
          <p:cNvSpPr/>
          <p:nvPr/>
        </p:nvSpPr>
        <p:spPr>
          <a:xfrm>
            <a:off x="2286000" y="3291840"/>
            <a:ext cx="5212080" cy="1005840"/>
          </a:xfrm>
          <a:prstGeom prst="rect">
            <a:avLst/>
          </a:prstGeom>
          <a:noFill/>
          <a:ln/>
        </p:spPr>
        <p:txBody>
          <a:bodyPr wrap="square" rtlCol="0" anchor="ctr"/>
          <a:lstStyle/>
          <a:p>
            <a:pPr marL="0" indent="0">
              <a:lnSpc>
                <a:spcPct val="120000"/>
              </a:lnSpc>
              <a:buNone/>
            </a:pPr>
            <a:r>
              <a:rPr lang="en-US" sz="1400" b="1" dirty="0">
                <a:solidFill>
                  <a:srgbClr val="0F2B46"/>
                </a:solidFill>
                <a:latin typeface="Calibri" pitchFamily="34" charset="0"/>
                <a:ea typeface="Calibri" pitchFamily="34" charset="-122"/>
                <a:cs typeface="Calibri" pitchFamily="34" charset="-120"/>
              </a:rPr>
              <a:t>Why are companies dropped?</a:t>
            </a:r>
            <a:endParaRPr lang="en-US" sz="1400" dirty="0"/>
          </a:p>
          <a:p>
            <a:pPr marL="0" indent="0">
              <a:lnSpc>
                <a:spcPct val="120000"/>
              </a:lnSpc>
              <a:buNone/>
            </a:pPr>
            <a:r>
              <a:rPr lang="en-US" sz="1200" dirty="0">
                <a:solidFill>
                  <a:srgbClr val="1E293B"/>
                </a:solidFill>
                <a:latin typeface="Calibri" pitchFamily="34" charset="0"/>
                <a:ea typeface="Calibri" pitchFamily="34" charset="-122"/>
                <a:cs typeface="Calibri" pitchFamily="34" charset="-120"/>
              </a:rPr>
              <a:t>Their index weight is so small that the ideal number of shares is less than 0.5, rounding it to zero. A </a:t>
            </a:r>
            <a:r>
              <a:rPr lang="en-US" sz="1200" b="1" dirty="0">
                <a:solidFill>
                  <a:srgbClr val="1E293B"/>
                </a:solidFill>
                <a:latin typeface="Calibri" pitchFamily="34" charset="0"/>
                <a:ea typeface="Calibri" pitchFamily="34" charset="-122"/>
                <a:cs typeface="Calibri" pitchFamily="34" charset="-120"/>
              </a:rPr>
              <a:t>larger basket size</a:t>
            </a:r>
            <a:r>
              <a:rPr lang="en-US" sz="1200" dirty="0">
                <a:solidFill>
                  <a:srgbClr val="1E293B"/>
                </a:solidFill>
                <a:latin typeface="Calibri" pitchFamily="34" charset="0"/>
                <a:ea typeface="Calibri" pitchFamily="34" charset="-122"/>
                <a:cs typeface="Calibri" pitchFamily="34" charset="-120"/>
              </a:rPr>
              <a:t> (e.g. PKR 50 million) would include more of these smaller names.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0F2B46"/>
                </a:solidFill>
                <a:latin typeface="Calibri" pitchFamily="34" charset="0"/>
                <a:ea typeface="Calibri" pitchFamily="34" charset="-122"/>
                <a:cs typeface="Calibri" pitchFamily="34" charset="-120"/>
              </a:rPr>
              <a:t>Program Flow: 14 Modules</a:t>
            </a:r>
            <a:endParaRPr lang="en-US" sz="3200" dirty="0"/>
          </a:p>
        </p:txBody>
      </p:sp>
      <p:sp>
        <p:nvSpPr>
          <p:cNvPr id="3" name="Shape 1"/>
          <p:cNvSpPr/>
          <p:nvPr/>
        </p:nvSpPr>
        <p:spPr>
          <a:xfrm>
            <a:off x="320040" y="1188720"/>
            <a:ext cx="2011680" cy="3200400"/>
          </a:xfrm>
          <a:prstGeom prst="roundRect">
            <a:avLst>
              <a:gd name="adj" fmla="val 4545"/>
            </a:avLst>
          </a:prstGeom>
          <a:solidFill>
            <a:srgbClr val="FFFFFF"/>
          </a:solidFill>
          <a:ln/>
          <a:effectLst>
            <a:outerShdw blurRad="76200" dist="25400" dir="2700000" algn="bl" rotWithShape="0">
              <a:srgbClr val="000000">
                <a:alpha val="12000"/>
              </a:srgbClr>
            </a:outerShdw>
          </a:effectLst>
        </p:spPr>
      </p:sp>
      <p:sp>
        <p:nvSpPr>
          <p:cNvPr id="4" name="Shape 2"/>
          <p:cNvSpPr/>
          <p:nvPr/>
        </p:nvSpPr>
        <p:spPr>
          <a:xfrm>
            <a:off x="502920" y="1371600"/>
            <a:ext cx="1645920" cy="411480"/>
          </a:xfrm>
          <a:prstGeom prst="roundRect">
            <a:avLst>
              <a:gd name="adj" fmla="val 13333"/>
            </a:avLst>
          </a:prstGeom>
          <a:solidFill>
            <a:srgbClr val="0F2B46"/>
          </a:solidFill>
          <a:ln/>
        </p:spPr>
      </p:sp>
      <p:sp>
        <p:nvSpPr>
          <p:cNvPr id="5" name="Text 3"/>
          <p:cNvSpPr/>
          <p:nvPr/>
        </p:nvSpPr>
        <p:spPr>
          <a:xfrm>
            <a:off x="502920" y="1371600"/>
            <a:ext cx="164592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Input</a:t>
            </a:r>
            <a:endParaRPr lang="en-US" sz="1400" dirty="0"/>
          </a:p>
        </p:txBody>
      </p:sp>
      <p:sp>
        <p:nvSpPr>
          <p:cNvPr id="6" name="Text 4"/>
          <p:cNvSpPr/>
          <p:nvPr/>
        </p:nvSpPr>
        <p:spPr>
          <a:xfrm>
            <a:off x="457200" y="1965960"/>
            <a:ext cx="1737360" cy="2194560"/>
          </a:xfrm>
          <a:prstGeom prst="rect">
            <a:avLst/>
          </a:prstGeom>
          <a:noFill/>
          <a:ln/>
        </p:spPr>
        <p:txBody>
          <a:bodyPr wrap="square" rtlCol="0" anchor="ctr"/>
          <a:lstStyle/>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M1: Get date</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M2: Load CSV</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M3: Basket size</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M4: Cash %</a:t>
            </a:r>
            <a:endParaRPr lang="en-US" sz="1100" dirty="0"/>
          </a:p>
        </p:txBody>
      </p:sp>
      <p:pic>
        <p:nvPicPr>
          <p:cNvPr id="7" name="Image 0" descr="preencoded.png"/>
          <p:cNvPicPr>
            <a:picLocks noChangeAspect="1"/>
          </p:cNvPicPr>
          <p:nvPr/>
        </p:nvPicPr>
        <p:blipFill>
          <a:blip r:embed="rId3"/>
          <a:stretch>
            <a:fillRect/>
          </a:stretch>
        </p:blipFill>
        <p:spPr>
          <a:xfrm>
            <a:off x="2350008" y="2560320"/>
            <a:ext cx="274320" cy="274320"/>
          </a:xfrm>
          <a:prstGeom prst="rect">
            <a:avLst/>
          </a:prstGeom>
        </p:spPr>
      </p:pic>
      <p:sp>
        <p:nvSpPr>
          <p:cNvPr id="8" name="Shape 5"/>
          <p:cNvSpPr/>
          <p:nvPr/>
        </p:nvSpPr>
        <p:spPr>
          <a:xfrm>
            <a:off x="2514600" y="1188720"/>
            <a:ext cx="2011680" cy="3200400"/>
          </a:xfrm>
          <a:prstGeom prst="roundRect">
            <a:avLst>
              <a:gd name="adj" fmla="val 4545"/>
            </a:avLst>
          </a:prstGeom>
          <a:solidFill>
            <a:srgbClr val="FFFFFF"/>
          </a:solidFill>
          <a:ln/>
          <a:effectLst>
            <a:outerShdw blurRad="76200" dist="25400" dir="2700000" algn="bl" rotWithShape="0">
              <a:srgbClr val="000000">
                <a:alpha val="12000"/>
              </a:srgbClr>
            </a:outerShdw>
          </a:effectLst>
        </p:spPr>
      </p:sp>
      <p:sp>
        <p:nvSpPr>
          <p:cNvPr id="9" name="Shape 6"/>
          <p:cNvSpPr/>
          <p:nvPr/>
        </p:nvSpPr>
        <p:spPr>
          <a:xfrm>
            <a:off x="2697480" y="1371600"/>
            <a:ext cx="1645920" cy="411480"/>
          </a:xfrm>
          <a:prstGeom prst="roundRect">
            <a:avLst>
              <a:gd name="adj" fmla="val 13333"/>
            </a:avLst>
          </a:prstGeom>
          <a:solidFill>
            <a:srgbClr val="0F2B46"/>
          </a:solidFill>
          <a:ln/>
        </p:spPr>
      </p:sp>
      <p:sp>
        <p:nvSpPr>
          <p:cNvPr id="10" name="Text 7"/>
          <p:cNvSpPr/>
          <p:nvPr/>
        </p:nvSpPr>
        <p:spPr>
          <a:xfrm>
            <a:off x="2697480" y="1371600"/>
            <a:ext cx="164592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Calculate</a:t>
            </a:r>
            <a:endParaRPr lang="en-US" sz="1400" dirty="0"/>
          </a:p>
        </p:txBody>
      </p:sp>
      <p:sp>
        <p:nvSpPr>
          <p:cNvPr id="11" name="Text 8"/>
          <p:cNvSpPr/>
          <p:nvPr/>
        </p:nvSpPr>
        <p:spPr>
          <a:xfrm>
            <a:off x="2651760" y="1965960"/>
            <a:ext cx="1737360" cy="2194560"/>
          </a:xfrm>
          <a:prstGeom prst="rect">
            <a:avLst/>
          </a:prstGeom>
          <a:noFill/>
          <a:ln/>
        </p:spPr>
        <p:txBody>
          <a:bodyPr wrap="square" rtlCol="0" anchor="ctr"/>
          <a:lstStyle/>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M5: Name builder</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M6: Compute shares</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M7: Repair cash</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M8: Basket weights</a:t>
            </a:r>
            <a:endParaRPr lang="en-US" sz="1100" dirty="0"/>
          </a:p>
        </p:txBody>
      </p:sp>
      <p:pic>
        <p:nvPicPr>
          <p:cNvPr id="12" name="Image 1" descr="preencoded.png"/>
          <p:cNvPicPr>
            <a:picLocks noChangeAspect="1"/>
          </p:cNvPicPr>
          <p:nvPr/>
        </p:nvPicPr>
        <p:blipFill>
          <a:blip r:embed="rId3"/>
          <a:stretch>
            <a:fillRect/>
          </a:stretch>
        </p:blipFill>
        <p:spPr>
          <a:xfrm>
            <a:off x="4544568" y="2560320"/>
            <a:ext cx="274320" cy="274320"/>
          </a:xfrm>
          <a:prstGeom prst="rect">
            <a:avLst/>
          </a:prstGeom>
        </p:spPr>
      </p:pic>
      <p:sp>
        <p:nvSpPr>
          <p:cNvPr id="13" name="Shape 9"/>
          <p:cNvSpPr/>
          <p:nvPr/>
        </p:nvSpPr>
        <p:spPr>
          <a:xfrm>
            <a:off x="4709160" y="1188720"/>
            <a:ext cx="2011680" cy="3200400"/>
          </a:xfrm>
          <a:prstGeom prst="roundRect">
            <a:avLst>
              <a:gd name="adj" fmla="val 4545"/>
            </a:avLst>
          </a:prstGeom>
          <a:solidFill>
            <a:srgbClr val="FFFFFF"/>
          </a:solidFill>
          <a:ln/>
          <a:effectLst>
            <a:outerShdw blurRad="76200" dist="25400" dir="2700000" algn="bl" rotWithShape="0">
              <a:srgbClr val="000000">
                <a:alpha val="12000"/>
              </a:srgbClr>
            </a:outerShdw>
          </a:effectLst>
        </p:spPr>
      </p:sp>
      <p:sp>
        <p:nvSpPr>
          <p:cNvPr id="14" name="Shape 10"/>
          <p:cNvSpPr/>
          <p:nvPr/>
        </p:nvSpPr>
        <p:spPr>
          <a:xfrm>
            <a:off x="4892040" y="1371600"/>
            <a:ext cx="1645920" cy="411480"/>
          </a:xfrm>
          <a:prstGeom prst="roundRect">
            <a:avLst>
              <a:gd name="adj" fmla="val 13333"/>
            </a:avLst>
          </a:prstGeom>
          <a:solidFill>
            <a:srgbClr val="0F2B46"/>
          </a:solidFill>
          <a:ln/>
        </p:spPr>
      </p:sp>
      <p:sp>
        <p:nvSpPr>
          <p:cNvPr id="15" name="Text 11"/>
          <p:cNvSpPr/>
          <p:nvPr/>
        </p:nvSpPr>
        <p:spPr>
          <a:xfrm>
            <a:off x="4892040" y="1371600"/>
            <a:ext cx="164592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Report</a:t>
            </a:r>
            <a:endParaRPr lang="en-US" sz="1400" dirty="0"/>
          </a:p>
        </p:txBody>
      </p:sp>
      <p:sp>
        <p:nvSpPr>
          <p:cNvPr id="16" name="Text 12"/>
          <p:cNvSpPr/>
          <p:nvPr/>
        </p:nvSpPr>
        <p:spPr>
          <a:xfrm>
            <a:off x="4846320" y="1965960"/>
            <a:ext cx="1737360" cy="2194560"/>
          </a:xfrm>
          <a:prstGeom prst="rect">
            <a:avLst/>
          </a:prstGeom>
          <a:noFill/>
          <a:ln/>
        </p:spPr>
        <p:txBody>
          <a:bodyPr wrap="square" rtlCol="0" anchor="ctr"/>
          <a:lstStyle/>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M9: Build summary</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M10: Print summary</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M11: Dropped list</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M12: Full table</a:t>
            </a:r>
            <a:endParaRPr lang="en-US" sz="1100" dirty="0"/>
          </a:p>
        </p:txBody>
      </p:sp>
      <p:pic>
        <p:nvPicPr>
          <p:cNvPr id="17" name="Image 2" descr="preencoded.png"/>
          <p:cNvPicPr>
            <a:picLocks noChangeAspect="1"/>
          </p:cNvPicPr>
          <p:nvPr/>
        </p:nvPicPr>
        <p:blipFill>
          <a:blip r:embed="rId3"/>
          <a:stretch>
            <a:fillRect/>
          </a:stretch>
        </p:blipFill>
        <p:spPr>
          <a:xfrm>
            <a:off x="6739128" y="2560320"/>
            <a:ext cx="274320" cy="274320"/>
          </a:xfrm>
          <a:prstGeom prst="rect">
            <a:avLst/>
          </a:prstGeom>
        </p:spPr>
      </p:pic>
      <p:sp>
        <p:nvSpPr>
          <p:cNvPr id="18" name="Shape 13"/>
          <p:cNvSpPr/>
          <p:nvPr/>
        </p:nvSpPr>
        <p:spPr>
          <a:xfrm>
            <a:off x="6903720" y="1188720"/>
            <a:ext cx="2011680" cy="3200400"/>
          </a:xfrm>
          <a:prstGeom prst="roundRect">
            <a:avLst>
              <a:gd name="adj" fmla="val 4545"/>
            </a:avLst>
          </a:prstGeom>
          <a:solidFill>
            <a:srgbClr val="FFFFFF"/>
          </a:solidFill>
          <a:ln/>
          <a:effectLst>
            <a:outerShdw blurRad="76200" dist="25400" dir="2700000" algn="bl" rotWithShape="0">
              <a:srgbClr val="000000">
                <a:alpha val="12000"/>
              </a:srgbClr>
            </a:outerShdw>
          </a:effectLst>
        </p:spPr>
      </p:sp>
      <p:sp>
        <p:nvSpPr>
          <p:cNvPr id="19" name="Shape 14"/>
          <p:cNvSpPr/>
          <p:nvPr/>
        </p:nvSpPr>
        <p:spPr>
          <a:xfrm>
            <a:off x="7086600" y="1371600"/>
            <a:ext cx="1645920" cy="411480"/>
          </a:xfrm>
          <a:prstGeom prst="roundRect">
            <a:avLst>
              <a:gd name="adj" fmla="val 13333"/>
            </a:avLst>
          </a:prstGeom>
          <a:solidFill>
            <a:srgbClr val="0F2B46"/>
          </a:solidFill>
          <a:ln/>
        </p:spPr>
      </p:sp>
      <p:sp>
        <p:nvSpPr>
          <p:cNvPr id="20" name="Text 15"/>
          <p:cNvSpPr/>
          <p:nvPr/>
        </p:nvSpPr>
        <p:spPr>
          <a:xfrm>
            <a:off x="7086600" y="1371600"/>
            <a:ext cx="164592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p>
        </p:txBody>
      </p:sp>
      <p:sp>
        <p:nvSpPr>
          <p:cNvPr id="21" name="Text 16"/>
          <p:cNvSpPr/>
          <p:nvPr/>
        </p:nvSpPr>
        <p:spPr>
          <a:xfrm>
            <a:off x="7040880" y="1965960"/>
            <a:ext cx="1737360" cy="2194560"/>
          </a:xfrm>
          <a:prstGeom prst="rect">
            <a:avLst/>
          </a:prstGeom>
          <a:noFill/>
          <a:ln/>
        </p:spPr>
        <p:txBody>
          <a:bodyPr wrap="square" rtlCol="0" anchor="ctr"/>
          <a:lstStyle/>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M13: Save 3 CSVs</a:t>
            </a:r>
            <a:endParaRPr lang="en-US" sz="1100" dirty="0"/>
          </a:p>
          <a:p>
            <a:pPr marL="0" indent="0">
              <a:lnSpc>
                <a:spcPct val="150000"/>
              </a:lnSpc>
              <a:buNone/>
            </a:pPr>
            <a:r>
              <a:rPr lang="en-US" sz="1100" dirty="0">
                <a:solidFill>
                  <a:srgbClr val="1E293B"/>
                </a:solidFill>
                <a:latin typeface="Calibri" pitchFamily="34" charset="0"/>
                <a:ea typeface="Calibri" pitchFamily="34" charset="-122"/>
                <a:cs typeface="Calibri" pitchFamily="34" charset="-120"/>
              </a:rPr>
              <a:t>M14: Main conductor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B46"/>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Beyond KSE-100: Global Scalability</a:t>
            </a:r>
            <a:endParaRPr lang="en-US" sz="3200" dirty="0"/>
          </a:p>
        </p:txBody>
      </p:sp>
      <p:sp>
        <p:nvSpPr>
          <p:cNvPr id="3" name="Text 1"/>
          <p:cNvSpPr/>
          <p:nvPr/>
        </p:nvSpPr>
        <p:spPr>
          <a:xfrm>
            <a:off x="457200" y="914400"/>
            <a:ext cx="8229600" cy="365760"/>
          </a:xfrm>
          <a:prstGeom prst="rect">
            <a:avLst/>
          </a:prstGeom>
          <a:noFill/>
          <a:ln/>
        </p:spPr>
        <p:txBody>
          <a:bodyPr wrap="square" rtlCol="0" anchor="ctr"/>
          <a:lstStyle/>
          <a:p>
            <a:pPr marL="0" indent="0" algn="ctr">
              <a:buNone/>
            </a:pPr>
            <a:r>
              <a:rPr lang="en-US" sz="1600" dirty="0">
                <a:solidFill>
                  <a:srgbClr val="0D9488"/>
                </a:solidFill>
                <a:latin typeface="Calibri" pitchFamily="34" charset="0"/>
                <a:ea typeface="Calibri" pitchFamily="34" charset="-122"/>
                <a:cs typeface="Calibri" pitchFamily="34" charset="-120"/>
              </a:rPr>
              <a:t>This tool works for any equity index in the world.</a:t>
            </a:r>
            <a:endParaRPr lang="en-US" sz="1600" dirty="0"/>
          </a:p>
        </p:txBody>
      </p:sp>
      <p:sp>
        <p:nvSpPr>
          <p:cNvPr id="4" name="Shape 2"/>
          <p:cNvSpPr/>
          <p:nvPr/>
        </p:nvSpPr>
        <p:spPr>
          <a:xfrm>
            <a:off x="731520" y="1691640"/>
            <a:ext cx="502920" cy="502920"/>
          </a:xfrm>
          <a:prstGeom prst="ellipse">
            <a:avLst/>
          </a:prstGeom>
          <a:solidFill>
            <a:srgbClr val="1A6DAA"/>
          </a:solidFill>
          <a:ln/>
        </p:spPr>
      </p:sp>
      <p:pic>
        <p:nvPicPr>
          <p:cNvPr id="5" name="Image 0" descr="preencoded.png"/>
          <p:cNvPicPr>
            <a:picLocks noChangeAspect="1"/>
          </p:cNvPicPr>
          <p:nvPr/>
        </p:nvPicPr>
        <p:blipFill>
          <a:blip r:embed="rId3"/>
          <a:stretch>
            <a:fillRect/>
          </a:stretch>
        </p:blipFill>
        <p:spPr>
          <a:xfrm>
            <a:off x="841248" y="1801368"/>
            <a:ext cx="292608" cy="292608"/>
          </a:xfrm>
          <a:prstGeom prst="rect">
            <a:avLst/>
          </a:prstGeom>
        </p:spPr>
      </p:pic>
      <p:sp>
        <p:nvSpPr>
          <p:cNvPr id="6" name="Text 3"/>
          <p:cNvSpPr/>
          <p:nvPr/>
        </p:nvSpPr>
        <p:spPr>
          <a:xfrm>
            <a:off x="1463040" y="1600200"/>
            <a:ext cx="68580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Any ETF Rebalancing</a:t>
            </a:r>
            <a:endParaRPr lang="en-US" sz="1600" dirty="0"/>
          </a:p>
        </p:txBody>
      </p:sp>
      <p:sp>
        <p:nvSpPr>
          <p:cNvPr id="7" name="Text 4"/>
          <p:cNvSpPr/>
          <p:nvPr/>
        </p:nvSpPr>
        <p:spPr>
          <a:xfrm>
            <a:off x="1463040" y="1920240"/>
            <a:ext cx="6858000" cy="45720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S&amp;P 500, FTSE 100, Nikkei 225 — provide the index data in CSV format and the basket size</a:t>
            </a:r>
            <a:endParaRPr lang="en-US" sz="1300" dirty="0"/>
          </a:p>
        </p:txBody>
      </p:sp>
      <p:sp>
        <p:nvSpPr>
          <p:cNvPr id="8" name="Shape 5"/>
          <p:cNvSpPr/>
          <p:nvPr/>
        </p:nvSpPr>
        <p:spPr>
          <a:xfrm>
            <a:off x="731520" y="2743200"/>
            <a:ext cx="502920" cy="502920"/>
          </a:xfrm>
          <a:prstGeom prst="ellipse">
            <a:avLst/>
          </a:prstGeom>
          <a:solidFill>
            <a:srgbClr val="1A6DAA"/>
          </a:solidFill>
          <a:ln/>
        </p:spPr>
      </p:sp>
      <p:pic>
        <p:nvPicPr>
          <p:cNvPr id="9" name="Image 1" descr="preencoded.png"/>
          <p:cNvPicPr>
            <a:picLocks noChangeAspect="1"/>
          </p:cNvPicPr>
          <p:nvPr/>
        </p:nvPicPr>
        <p:blipFill>
          <a:blip r:embed="rId3"/>
          <a:stretch>
            <a:fillRect/>
          </a:stretch>
        </p:blipFill>
        <p:spPr>
          <a:xfrm>
            <a:off x="841248" y="2852928"/>
            <a:ext cx="292608" cy="292608"/>
          </a:xfrm>
          <a:prstGeom prst="rect">
            <a:avLst/>
          </a:prstGeom>
        </p:spPr>
      </p:pic>
      <p:sp>
        <p:nvSpPr>
          <p:cNvPr id="10" name="Text 6"/>
          <p:cNvSpPr/>
          <p:nvPr/>
        </p:nvSpPr>
        <p:spPr>
          <a:xfrm>
            <a:off x="1463040" y="2651760"/>
            <a:ext cx="68580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New ETF Creation</a:t>
            </a:r>
            <a:endParaRPr lang="en-US" sz="1600" dirty="0"/>
          </a:p>
        </p:txBody>
      </p:sp>
      <p:sp>
        <p:nvSpPr>
          <p:cNvPr id="11" name="Text 7"/>
          <p:cNvSpPr/>
          <p:nvPr/>
        </p:nvSpPr>
        <p:spPr>
          <a:xfrm>
            <a:off x="1463040" y="2971800"/>
            <a:ext cx="6858000" cy="45720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Set the Creation Unit size as a whole number for a brand-new fund</a:t>
            </a:r>
            <a:endParaRPr lang="en-US" sz="1300" dirty="0"/>
          </a:p>
        </p:txBody>
      </p:sp>
      <p:sp>
        <p:nvSpPr>
          <p:cNvPr id="12" name="Shape 8"/>
          <p:cNvSpPr/>
          <p:nvPr/>
        </p:nvSpPr>
        <p:spPr>
          <a:xfrm>
            <a:off x="731520" y="3794760"/>
            <a:ext cx="502920" cy="502920"/>
          </a:xfrm>
          <a:prstGeom prst="ellipse">
            <a:avLst/>
          </a:prstGeom>
          <a:solidFill>
            <a:srgbClr val="1A6DAA"/>
          </a:solidFill>
          <a:ln/>
        </p:spPr>
      </p:sp>
      <p:pic>
        <p:nvPicPr>
          <p:cNvPr id="13" name="Image 2" descr="preencoded.png"/>
          <p:cNvPicPr>
            <a:picLocks noChangeAspect="1"/>
          </p:cNvPicPr>
          <p:nvPr/>
        </p:nvPicPr>
        <p:blipFill>
          <a:blip r:embed="rId3"/>
          <a:stretch>
            <a:fillRect/>
          </a:stretch>
        </p:blipFill>
        <p:spPr>
          <a:xfrm>
            <a:off x="841248" y="3904488"/>
            <a:ext cx="292608" cy="292608"/>
          </a:xfrm>
          <a:prstGeom prst="rect">
            <a:avLst/>
          </a:prstGeom>
        </p:spPr>
      </p:pic>
      <p:sp>
        <p:nvSpPr>
          <p:cNvPr id="14" name="Text 9"/>
          <p:cNvSpPr/>
          <p:nvPr/>
        </p:nvSpPr>
        <p:spPr>
          <a:xfrm>
            <a:off x="1463040" y="3703320"/>
            <a:ext cx="68580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Index-Mimicking Portfolio</a:t>
            </a:r>
            <a:endParaRPr lang="en-US" sz="1600" dirty="0"/>
          </a:p>
        </p:txBody>
      </p:sp>
      <p:sp>
        <p:nvSpPr>
          <p:cNvPr id="15" name="Text 10"/>
          <p:cNvSpPr/>
          <p:nvPr/>
        </p:nvSpPr>
        <p:spPr>
          <a:xfrm>
            <a:off x="1463040" y="4023360"/>
            <a:ext cx="6858000" cy="457200"/>
          </a:xfrm>
          <a:prstGeom prst="rect">
            <a:avLst/>
          </a:prstGeom>
          <a:noFill/>
          <a:ln/>
        </p:spPr>
        <p:txBody>
          <a:bodyPr wrap="square" lIns="0" tIns="0" rIns="0" bIns="0" rtlCol="0" anchor="ctr"/>
          <a:lstStyle/>
          <a:p>
            <a:pPr marL="0" indent="0">
              <a:buNone/>
            </a:pPr>
            <a:r>
              <a:rPr lang="en-US" sz="1300" dirty="0">
                <a:solidFill>
                  <a:srgbClr val="E2E8F0"/>
                </a:solidFill>
                <a:latin typeface="Calibri" pitchFamily="34" charset="0"/>
                <a:ea typeface="Calibri" pitchFamily="34" charset="-122"/>
                <a:cs typeface="Calibri" pitchFamily="34" charset="-120"/>
              </a:rPr>
              <a:t>Individual investors who want to replicate an index with a custom investable amount and cash reserve</a:t>
            </a:r>
            <a:endParaRPr lang="en-US" sz="1300" dirty="0"/>
          </a:p>
        </p:txBody>
      </p:sp>
      <p:sp>
        <p:nvSpPr>
          <p:cNvPr id="16" name="Text 11"/>
          <p:cNvSpPr/>
          <p:nvPr/>
        </p:nvSpPr>
        <p:spPr>
          <a:xfrm>
            <a:off x="731520" y="4572000"/>
            <a:ext cx="7680960" cy="457200"/>
          </a:xfrm>
          <a:prstGeom prst="rect">
            <a:avLst/>
          </a:prstGeom>
          <a:noFill/>
          <a:ln/>
        </p:spPr>
        <p:txBody>
          <a:bodyPr wrap="square" rtlCol="0" anchor="ctr"/>
          <a:lstStyle/>
          <a:p>
            <a:pPr marL="0" indent="0">
              <a:lnSpc>
                <a:spcPct val="120000"/>
              </a:lnSpc>
              <a:buNone/>
            </a:pPr>
            <a:r>
              <a:rPr lang="en-US" sz="1200" b="1" dirty="0">
                <a:solidFill>
                  <a:srgbClr val="0D9488"/>
                </a:solidFill>
                <a:latin typeface="Calibri" pitchFamily="34" charset="0"/>
                <a:ea typeface="Calibri" pitchFamily="34" charset="-122"/>
                <a:cs typeface="Calibri" pitchFamily="34" charset="-120"/>
              </a:rPr>
              <a:t>Only requirement: </a:t>
            </a:r>
            <a:r>
              <a:rPr lang="en-US" sz="1200" dirty="0">
                <a:solidFill>
                  <a:srgbClr val="0D9488"/>
                </a:solidFill>
                <a:latin typeface="Calibri" pitchFamily="34" charset="0"/>
                <a:ea typeface="Calibri" pitchFamily="34" charset="-122"/>
                <a:cs typeface="Calibri" pitchFamily="34" charset="-120"/>
              </a:rPr>
              <a:t>provide the index constituents in the standard CSV format with ISIN, SYMBOL, COMPANY, PRICE, and IDX WT % columns.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1A6DAA">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286000"/>
            <a:ext cx="8229600" cy="73152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Shape 2"/>
          <p:cNvSpPr/>
          <p:nvPr/>
        </p:nvSpPr>
        <p:spPr>
          <a:xfrm>
            <a:off x="3200400" y="3108960"/>
            <a:ext cx="2743200" cy="36576"/>
          </a:xfrm>
          <a:prstGeom prst="rect">
            <a:avLst/>
          </a:prstGeom>
          <a:solidFill>
            <a:srgbClr val="0D9488">
              <a:alpha val="60000"/>
            </a:srgbClr>
          </a:solidFill>
          <a:ln/>
        </p:spPr>
      </p:sp>
      <p:sp>
        <p:nvSpPr>
          <p:cNvPr id="6" name="Text 3"/>
          <p:cNvSpPr/>
          <p:nvPr/>
        </p:nvSpPr>
        <p:spPr>
          <a:xfrm>
            <a:off x="457200" y="3383280"/>
            <a:ext cx="8229600" cy="365760"/>
          </a:xfrm>
          <a:prstGeom prst="rect">
            <a:avLst/>
          </a:prstGeom>
          <a:noFill/>
          <a:ln/>
        </p:spPr>
        <p:txBody>
          <a:bodyPr wrap="square" rtlCol="0" anchor="ctr"/>
          <a:lstStyle/>
          <a:p>
            <a:pPr marL="0" indent="0" algn="ctr">
              <a:buNone/>
            </a:pPr>
            <a:r>
              <a:rPr lang="en-US" sz="1600" dirty="0">
                <a:solidFill>
                  <a:srgbClr val="0D9488"/>
                </a:solidFill>
                <a:latin typeface="Calibri" pitchFamily="34" charset="0"/>
                <a:ea typeface="Calibri" pitchFamily="34" charset="-122"/>
                <a:cs typeface="Calibri" pitchFamily="34" charset="-120"/>
              </a:rPr>
              <a:t>KSE-100 ETF Creation Basket Builder</a:t>
            </a:r>
            <a:endParaRPr lang="en-US" sz="1600" dirty="0"/>
          </a:p>
        </p:txBody>
      </p:sp>
      <p:sp>
        <p:nvSpPr>
          <p:cNvPr id="7" name="Text 4"/>
          <p:cNvSpPr/>
          <p:nvPr/>
        </p:nvSpPr>
        <p:spPr>
          <a:xfrm>
            <a:off x="457200" y="3931920"/>
            <a:ext cx="8229600" cy="457200"/>
          </a:xfrm>
          <a:prstGeom prst="rect">
            <a:avLst/>
          </a:prstGeom>
          <a:noFill/>
          <a:ln/>
        </p:spPr>
        <p:txBody>
          <a:bodyPr wrap="square" rtlCol="0" anchor="ctr"/>
          <a:lstStyle/>
          <a:p>
            <a:pPr marL="0" indent="0" algn="ctr">
              <a:buNone/>
            </a:pP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2093</Words>
  <Application>Microsoft Office PowerPoint</Application>
  <PresentationFormat>On-screen Show (16:9)</PresentationFormat>
  <Paragraphs>306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KSE-100 ETF Creation Basket Builder</dc:title>
  <dc:subject>PptxGenJS Presentation</dc:subject>
  <dc:creator>KSE-100 ETF Basket Builder</dc:creator>
  <cp:lastModifiedBy>hraza</cp:lastModifiedBy>
  <cp:revision>9</cp:revision>
  <dcterms:created xsi:type="dcterms:W3CDTF">2026-06-12T09:41:07Z</dcterms:created>
  <dcterms:modified xsi:type="dcterms:W3CDTF">2026-06-12T19:57:49Z</dcterms:modified>
</cp:coreProperties>
</file>